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324" r:id="rId8"/>
    <p:sldId id="314" r:id="rId9"/>
    <p:sldId id="325" r:id="rId10"/>
    <p:sldId id="281" r:id="rId11"/>
    <p:sldId id="282" r:id="rId12"/>
    <p:sldId id="319" r:id="rId13"/>
    <p:sldId id="322" r:id="rId14"/>
    <p:sldId id="323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501172-8050-4A89-B2D2-68F7102AA07E}">
          <p14:sldIdLst>
            <p14:sldId id="312"/>
            <p14:sldId id="304"/>
            <p14:sldId id="307"/>
            <p14:sldId id="324"/>
            <p14:sldId id="314"/>
            <p14:sldId id="325"/>
            <p14:sldId id="281"/>
            <p14:sldId id="282"/>
            <p14:sldId id="319"/>
            <p14:sldId id="322"/>
            <p14:sldId id="323"/>
          </p14:sldIdLst>
        </p14:section>
        <p14:section name="Untitled Section" id="{2D0A2A33-464F-484A-8815-D5A8986BC17E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6"/>
    <a:srgbClr val="DF8C8C"/>
    <a:srgbClr val="202C8F"/>
    <a:srgbClr val="FDFBF6"/>
    <a:srgbClr val="AAC4E9"/>
    <a:srgbClr val="F5CDCE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B4593-6D80-47AD-9653-ECFC338CB2AA}" v="78" dt="2026-10-10T09:59:35.309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1" autoAdjust="0"/>
    <p:restoredTop sz="90065" autoAdjust="0"/>
  </p:normalViewPr>
  <p:slideViewPr>
    <p:cSldViewPr snapToGrid="0" snapToObjects="1">
      <p:cViewPr varScale="1">
        <p:scale>
          <a:sx n="74" d="100"/>
          <a:sy n="74" d="100"/>
        </p:scale>
        <p:origin x="75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[Book2.xlsx]pivot table!PivotTable3</c:name>
    <c:fmtId val="1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ysClr val="windowText" lastClr="000000"/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"/>
          <c:y val="7.5163411989821863E-2"/>
          <c:w val="0.93809034643702627"/>
          <c:h val="0.825205857863472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'pivot table'!$Q$2</c:f>
              <c:strCache>
                <c:ptCount val="1"/>
                <c:pt idx="0">
                  <c:v>Sum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table'!$P$3:$P$7</c:f>
              <c:strCache>
                <c:ptCount val="4"/>
                <c:pt idx="0">
                  <c:v>Clear</c:v>
                </c:pt>
                <c:pt idx="1">
                  <c:v>Heavy rain / snow</c:v>
                </c:pt>
                <c:pt idx="2">
                  <c:v>Light rain/snow</c:v>
                </c:pt>
                <c:pt idx="3">
                  <c:v>Mist + Cloudly</c:v>
                </c:pt>
              </c:strCache>
            </c:strRef>
          </c:cat>
          <c:val>
            <c:numRef>
              <c:f>'pivot table'!$Q$3:$Q$7</c:f>
              <c:numCache>
                <c:formatCode>General</c:formatCode>
                <c:ptCount val="4"/>
                <c:pt idx="0">
                  <c:v>3211</c:v>
                </c:pt>
                <c:pt idx="1">
                  <c:v>1</c:v>
                </c:pt>
                <c:pt idx="2">
                  <c:v>171</c:v>
                </c:pt>
                <c:pt idx="3">
                  <c:v>1538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0F7-9821-398264AAAE4A}"/>
            </c:ext>
          </c:extLst>
        </c:ser>
        <c:ser>
          <c:idx val="1"/>
          <c:order val="1"/>
          <c:tx>
            <c:strRef>
              <c:f>'pivot table'!$R$2</c:f>
              <c:strCache>
                <c:ptCount val="1"/>
                <c:pt idx="0">
                  <c:v>Sum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table'!$P$3:$P$7</c:f>
              <c:strCache>
                <c:ptCount val="4"/>
                <c:pt idx="0">
                  <c:v>Clear</c:v>
                </c:pt>
                <c:pt idx="1">
                  <c:v>Heavy rain / snow</c:v>
                </c:pt>
                <c:pt idx="2">
                  <c:v>Light rain/snow</c:v>
                </c:pt>
                <c:pt idx="3">
                  <c:v>Mist + Cloudly</c:v>
                </c:pt>
              </c:strCache>
            </c:strRef>
          </c:cat>
          <c:val>
            <c:numRef>
              <c:f>'pivot table'!$R$3:$R$7</c:f>
              <c:numCache>
                <c:formatCode>General</c:formatCode>
                <c:ptCount val="4"/>
                <c:pt idx="0">
                  <c:v>34162</c:v>
                </c:pt>
                <c:pt idx="1">
                  <c:v>35</c:v>
                </c:pt>
                <c:pt idx="2">
                  <c:v>2618</c:v>
                </c:pt>
                <c:pt idx="3">
                  <c:v>16568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0F7-9821-398264AAAE4A}"/>
            </c:ext>
          </c:extLst>
        </c:ser>
        <c:ser>
          <c:idx val="2"/>
          <c:order val="2"/>
          <c:tx>
            <c:strRef>
              <c:f>'pivot table'!$S$2</c:f>
              <c:strCache>
                <c:ptCount val="1"/>
                <c:pt idx="0">
                  <c:v>Sum of cnt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table'!$P$3:$P$7</c:f>
              <c:strCache>
                <c:ptCount val="4"/>
                <c:pt idx="0">
                  <c:v>Clear</c:v>
                </c:pt>
                <c:pt idx="1">
                  <c:v>Heavy rain / snow</c:v>
                </c:pt>
                <c:pt idx="2">
                  <c:v>Light rain/snow</c:v>
                </c:pt>
                <c:pt idx="3">
                  <c:v>Mist + Cloudly</c:v>
                </c:pt>
              </c:strCache>
            </c:strRef>
          </c:cat>
          <c:val>
            <c:numRef>
              <c:f>'pivot table'!$S$3:$S$7</c:f>
              <c:numCache>
                <c:formatCode>General</c:formatCode>
                <c:ptCount val="4"/>
                <c:pt idx="0">
                  <c:v>37373</c:v>
                </c:pt>
                <c:pt idx="1">
                  <c:v>36</c:v>
                </c:pt>
                <c:pt idx="2">
                  <c:v>2789</c:v>
                </c:pt>
                <c:pt idx="3">
                  <c:v>18106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0F7-9821-398264AAAE4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928399"/>
        <c:axId val="1690164944"/>
      </c:barChart>
      <c:catAx>
        <c:axId val="1492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164944"/>
        <c:crosses val="autoZero"/>
        <c:auto val="1"/>
        <c:lblAlgn val="ctr"/>
        <c:lblOffset val="100"/>
        <c:noMultiLvlLbl val="0"/>
      </c:catAx>
      <c:valAx>
        <c:axId val="1690164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928399"/>
        <c:crosses val="autoZero"/>
        <c:crossBetween val="between"/>
      </c:valAx>
      <c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1"/>
          <a:tileRect/>
        </a:gradFill>
        <a:ln>
          <a:solidFill>
            <a:schemeClr val="tx2">
              <a:lumMod val="1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[Book2.xlsx]pivot table!PivotTable1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hour by demand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650520907636222E-2"/>
          <c:y val="3.2065189305641562E-2"/>
          <c:w val="0.93888888888888888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table'!$B$4:$B$28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2C-4C55-B128-AA926D0BC82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1592783"/>
        <c:axId val="1858564304"/>
      </c:barChart>
      <c:catAx>
        <c:axId val="41592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8564304"/>
        <c:crosses val="autoZero"/>
        <c:auto val="1"/>
        <c:lblAlgn val="ctr"/>
        <c:lblOffset val="100"/>
        <c:noMultiLvlLbl val="0"/>
      </c:catAx>
      <c:valAx>
        <c:axId val="185856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92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DESCRIPTIVE</a:t>
            </a:r>
            <a:r>
              <a:rPr lang="en-IN" baseline="0"/>
              <a:t> STATISTICS</a:t>
            </a:r>
            <a:endParaRPr lang="en-IN"/>
          </a:p>
        </c:rich>
      </c:tx>
      <c:layout>
        <c:manualLayout>
          <c:xMode val="edge"/>
          <c:yMode val="edge"/>
          <c:x val="0.2906111111111111"/>
          <c:y val="4.6296296296296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3.1134075826322282E-2"/>
          <c:y val="0.10466416457594808"/>
          <c:w val="0.93441400886786186"/>
          <c:h val="0.80466049274276241"/>
        </c:manualLayout>
      </c:layout>
      <c:bubbleChart>
        <c:varyColors val="0"/>
        <c:ser>
          <c:idx val="0"/>
          <c:order val="0"/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Append1!$U$5:$AH$5</c:f>
              <c:numCache>
                <c:formatCode>General</c:formatCode>
                <c:ptCount val="14"/>
              </c:numCache>
            </c:numRef>
          </c:yVal>
          <c:bubbleSize>
            <c:numRef>
              <c:f>Append1!$U$6:$AH$6</c:f>
              <c:numCache>
                <c:formatCode>General</c:formatCode>
                <c:ptCount val="14"/>
                <c:pt idx="0">
                  <c:v>0</c:v>
                </c:pt>
                <c:pt idx="1">
                  <c:v>0.20589999999999961</c:v>
                </c:pt>
                <c:pt idx="2">
                  <c:v>0</c:v>
                </c:pt>
                <c:pt idx="3">
                  <c:v>0.21195783619818054</c:v>
                </c:pt>
                <c:pt idx="4">
                  <c:v>0</c:v>
                </c:pt>
                <c:pt idx="5">
                  <c:v>0.58248000000000033</c:v>
                </c:pt>
                <c:pt idx="6">
                  <c:v>0</c:v>
                </c:pt>
                <c:pt idx="7">
                  <c:v>0.19493129999999903</c:v>
                </c:pt>
                <c:pt idx="8">
                  <c:v>0</c:v>
                </c:pt>
                <c:pt idx="9">
                  <c:v>4.9210000000000003</c:v>
                </c:pt>
                <c:pt idx="10">
                  <c:v>0</c:v>
                </c:pt>
                <c:pt idx="11">
                  <c:v>53.383000000000003</c:v>
                </c:pt>
                <c:pt idx="12">
                  <c:v>0</c:v>
                </c:pt>
                <c:pt idx="13">
                  <c:v>58.304000000000002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0-61C8-4E7F-A975-A227F734494C}"/>
            </c:ext>
          </c:extLst>
        </c:ser>
        <c:ser>
          <c:idx val="1"/>
          <c:order val="1"/>
          <c:spPr>
            <a:solidFill>
              <a:schemeClr val="accent2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Append1!$U$7:$AH$7</c:f>
              <c:numCache>
                <c:formatCode>General</c:formatCode>
                <c:ptCount val="14"/>
                <c:pt idx="0">
                  <c:v>0</c:v>
                </c:pt>
                <c:pt idx="1">
                  <c:v>2.4974842196553806E-3</c:v>
                </c:pt>
                <c:pt idx="2">
                  <c:v>0</c:v>
                </c:pt>
                <c:pt idx="3">
                  <c:v>2.4390101592374779E-3</c:v>
                </c:pt>
                <c:pt idx="4">
                  <c:v>0</c:v>
                </c:pt>
                <c:pt idx="5">
                  <c:v>5.9443574072378961E-3</c:v>
                </c:pt>
                <c:pt idx="6">
                  <c:v>0</c:v>
                </c:pt>
                <c:pt idx="7">
                  <c:v>4.0833247472252168E-3</c:v>
                </c:pt>
                <c:pt idx="8">
                  <c:v>0</c:v>
                </c:pt>
                <c:pt idx="9">
                  <c:v>0.24172130271903672</c:v>
                </c:pt>
                <c:pt idx="10">
                  <c:v>0</c:v>
                </c:pt>
                <c:pt idx="11">
                  <c:v>1.51454024150669</c:v>
                </c:pt>
                <c:pt idx="12">
                  <c:v>0</c:v>
                </c:pt>
                <c:pt idx="13">
                  <c:v>1.612304906371965</c:v>
                </c:pt>
              </c:numCache>
            </c:numRef>
          </c:yVal>
          <c:bubbleSize>
            <c:numRef>
              <c:f>Append1!$U$8:$AH$8</c:f>
              <c:numCache>
                <c:formatCode>General</c:formatCode>
                <c:ptCount val="14"/>
                <c:pt idx="0">
                  <c:v>0</c:v>
                </c:pt>
                <c:pt idx="1">
                  <c:v>0.2</c:v>
                </c:pt>
                <c:pt idx="2">
                  <c:v>0</c:v>
                </c:pt>
                <c:pt idx="3">
                  <c:v>0.21210000000000001</c:v>
                </c:pt>
                <c:pt idx="4">
                  <c:v>0</c:v>
                </c:pt>
                <c:pt idx="5">
                  <c:v>0.55000000000000004</c:v>
                </c:pt>
                <c:pt idx="6">
                  <c:v>0</c:v>
                </c:pt>
                <c:pt idx="7">
                  <c:v>0.16420000000000001</c:v>
                </c:pt>
                <c:pt idx="8">
                  <c:v>0</c:v>
                </c:pt>
                <c:pt idx="9">
                  <c:v>3</c:v>
                </c:pt>
                <c:pt idx="10">
                  <c:v>0</c:v>
                </c:pt>
                <c:pt idx="11">
                  <c:v>46</c:v>
                </c:pt>
                <c:pt idx="12">
                  <c:v>0</c:v>
                </c:pt>
                <c:pt idx="13">
                  <c:v>49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1-61C8-4E7F-A975-A227F734494C}"/>
            </c:ext>
          </c:extLst>
        </c:ser>
        <c:ser>
          <c:idx val="2"/>
          <c:order val="2"/>
          <c:spPr>
            <a:solidFill>
              <a:schemeClr val="accent3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Append1!$U$9:$AH$9</c:f>
              <c:numCache>
                <c:formatCode>General</c:formatCode>
                <c:ptCount val="14"/>
                <c:pt idx="0">
                  <c:v>0</c:v>
                </c:pt>
                <c:pt idx="1">
                  <c:v>0.22</c:v>
                </c:pt>
                <c:pt idx="2">
                  <c:v>0</c:v>
                </c:pt>
                <c:pt idx="3">
                  <c:v>0.2273</c:v>
                </c:pt>
                <c:pt idx="4">
                  <c:v>0</c:v>
                </c:pt>
                <c:pt idx="5">
                  <c:v>0.93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1</c:v>
                </c:pt>
              </c:numCache>
            </c:numRef>
          </c:yVal>
          <c:bubbleSize>
            <c:numRef>
              <c:f>Append1!$U$10:$AH$10</c:f>
              <c:numCache>
                <c:formatCode>General</c:formatCode>
                <c:ptCount val="14"/>
                <c:pt idx="0">
                  <c:v>0</c:v>
                </c:pt>
                <c:pt idx="1">
                  <c:v>7.8977385544392681E-2</c:v>
                </c:pt>
                <c:pt idx="2">
                  <c:v>0</c:v>
                </c:pt>
                <c:pt idx="3">
                  <c:v>7.6702894865435994E-2</c:v>
                </c:pt>
                <c:pt idx="4">
                  <c:v>0</c:v>
                </c:pt>
                <c:pt idx="5">
                  <c:v>0.18797708632964827</c:v>
                </c:pt>
                <c:pt idx="6">
                  <c:v>0</c:v>
                </c:pt>
                <c:pt idx="7">
                  <c:v>0.12912606627362996</c:v>
                </c:pt>
                <c:pt idx="8">
                  <c:v>0</c:v>
                </c:pt>
                <c:pt idx="9">
                  <c:v>7.6438987557520797</c:v>
                </c:pt>
                <c:pt idx="10">
                  <c:v>0</c:v>
                </c:pt>
                <c:pt idx="11">
                  <c:v>47.893967711426278</c:v>
                </c:pt>
                <c:pt idx="12">
                  <c:v>0</c:v>
                </c:pt>
                <c:pt idx="13">
                  <c:v>50.985557867999354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2-61C8-4E7F-A975-A227F734494C}"/>
            </c:ext>
          </c:extLst>
        </c:ser>
        <c:ser>
          <c:idx val="3"/>
          <c:order val="3"/>
          <c:spPr>
            <a:solidFill>
              <a:schemeClr val="accent4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Append1!$U$11:$AH$11</c:f>
              <c:numCache>
                <c:formatCode>General</c:formatCode>
                <c:ptCount val="14"/>
                <c:pt idx="0">
                  <c:v>0</c:v>
                </c:pt>
                <c:pt idx="1">
                  <c:v>6.2374274274276456E-3</c:v>
                </c:pt>
                <c:pt idx="2">
                  <c:v>0</c:v>
                </c:pt>
                <c:pt idx="3">
                  <c:v>5.8833340807381276E-3</c:v>
                </c:pt>
                <c:pt idx="4">
                  <c:v>0</c:v>
                </c:pt>
                <c:pt idx="5">
                  <c:v>3.5335384984984043E-2</c:v>
                </c:pt>
                <c:pt idx="6">
                  <c:v>0</c:v>
                </c:pt>
                <c:pt idx="7">
                  <c:v>1.6673540991301875E-2</c:v>
                </c:pt>
                <c:pt idx="8">
                  <c:v>0</c:v>
                </c:pt>
                <c:pt idx="9">
                  <c:v>58.429188188188185</c:v>
                </c:pt>
                <c:pt idx="10">
                  <c:v>0</c:v>
                </c:pt>
                <c:pt idx="11">
                  <c:v>2293.8321431431432</c:v>
                </c:pt>
                <c:pt idx="12">
                  <c:v>0</c:v>
                </c:pt>
                <c:pt idx="13">
                  <c:v>2599.527111111111</c:v>
                </c:pt>
              </c:numCache>
            </c:numRef>
          </c:yVal>
          <c:bubbleSize>
            <c:numRef>
              <c:f>Append1!$U$12:$AH$12</c:f>
              <c:numCache>
                <c:formatCode>General</c:formatCode>
                <c:ptCount val="14"/>
                <c:pt idx="0">
                  <c:v>0</c:v>
                </c:pt>
                <c:pt idx="1">
                  <c:v>0.77506113468998628</c:v>
                </c:pt>
                <c:pt idx="2">
                  <c:v>0</c:v>
                </c:pt>
                <c:pt idx="3">
                  <c:v>0.67083714691306051</c:v>
                </c:pt>
                <c:pt idx="4">
                  <c:v>0</c:v>
                </c:pt>
                <c:pt idx="5">
                  <c:v>-0.72312265429044098</c:v>
                </c:pt>
                <c:pt idx="6">
                  <c:v>0</c:v>
                </c:pt>
                <c:pt idx="7">
                  <c:v>-0.2098533612109148</c:v>
                </c:pt>
                <c:pt idx="8">
                  <c:v>0</c:v>
                </c:pt>
                <c:pt idx="9">
                  <c:v>15.097739783279556</c:v>
                </c:pt>
                <c:pt idx="10">
                  <c:v>0</c:v>
                </c:pt>
                <c:pt idx="11">
                  <c:v>1.6425062532387078</c:v>
                </c:pt>
                <c:pt idx="12">
                  <c:v>0</c:v>
                </c:pt>
                <c:pt idx="13">
                  <c:v>1.0266606324511431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3-61C8-4E7F-A975-A227F734494C}"/>
            </c:ext>
          </c:extLst>
        </c:ser>
        <c:ser>
          <c:idx val="4"/>
          <c:order val="4"/>
          <c:spPr>
            <a:solidFill>
              <a:schemeClr val="accent5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Append1!$U$13:$AH$13</c:f>
              <c:numCache>
                <c:formatCode>General</c:formatCode>
                <c:ptCount val="14"/>
                <c:pt idx="0">
                  <c:v>0</c:v>
                </c:pt>
                <c:pt idx="1">
                  <c:v>0.54799688242036793</c:v>
                </c:pt>
                <c:pt idx="2">
                  <c:v>0</c:v>
                </c:pt>
                <c:pt idx="3">
                  <c:v>0.42856393921821945</c:v>
                </c:pt>
                <c:pt idx="4">
                  <c:v>0</c:v>
                </c:pt>
                <c:pt idx="5">
                  <c:v>0.43689346451282174</c:v>
                </c:pt>
                <c:pt idx="6">
                  <c:v>0</c:v>
                </c:pt>
                <c:pt idx="7">
                  <c:v>0.43367506246880855</c:v>
                </c:pt>
                <c:pt idx="8">
                  <c:v>0</c:v>
                </c:pt>
                <c:pt idx="9">
                  <c:v>3.4141050413066441</c:v>
                </c:pt>
                <c:pt idx="10">
                  <c:v>0</c:v>
                </c:pt>
                <c:pt idx="11">
                  <c:v>1.296723304637722</c:v>
                </c:pt>
                <c:pt idx="12">
                  <c:v>0</c:v>
                </c:pt>
                <c:pt idx="13">
                  <c:v>1.1377091237001229</c:v>
                </c:pt>
              </c:numCache>
            </c:numRef>
          </c:yVal>
          <c:bubbleSize>
            <c:numRef>
              <c:f>Append1!$U$14:$AH$14</c:f>
              <c:numCache>
                <c:formatCode>General</c:formatCode>
                <c:ptCount val="14"/>
                <c:pt idx="0">
                  <c:v>0</c:v>
                </c:pt>
                <c:pt idx="1">
                  <c:v>0.44</c:v>
                </c:pt>
                <c:pt idx="2">
                  <c:v>0</c:v>
                </c:pt>
                <c:pt idx="3">
                  <c:v>0.45450000000000002</c:v>
                </c:pt>
                <c:pt idx="4">
                  <c:v>0</c:v>
                </c:pt>
                <c:pt idx="5">
                  <c:v>0.79</c:v>
                </c:pt>
                <c:pt idx="6">
                  <c:v>0</c:v>
                </c:pt>
                <c:pt idx="7">
                  <c:v>0.58209999999999995</c:v>
                </c:pt>
                <c:pt idx="8">
                  <c:v>0</c:v>
                </c:pt>
                <c:pt idx="9">
                  <c:v>62</c:v>
                </c:pt>
                <c:pt idx="10">
                  <c:v>0</c:v>
                </c:pt>
                <c:pt idx="11">
                  <c:v>247</c:v>
                </c:pt>
                <c:pt idx="12">
                  <c:v>0</c:v>
                </c:pt>
                <c:pt idx="13">
                  <c:v>248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4-61C8-4E7F-A975-A227F734494C}"/>
            </c:ext>
          </c:extLst>
        </c:ser>
        <c:ser>
          <c:idx val="5"/>
          <c:order val="5"/>
          <c:spPr>
            <a:solidFill>
              <a:schemeClr val="accent6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Append1!$U$15:$AH$15</c:f>
              <c:numCache>
                <c:formatCode>General</c:formatCode>
                <c:ptCount val="14"/>
                <c:pt idx="0">
                  <c:v>0</c:v>
                </c:pt>
                <c:pt idx="1">
                  <c:v>0.02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</c:numCache>
            </c:numRef>
          </c:yVal>
          <c:bubbleSize>
            <c:numRef>
              <c:f>Append1!$U$16:$AH$16</c:f>
              <c:numCache>
                <c:formatCode>General</c:formatCode>
                <c:ptCount val="14"/>
                <c:pt idx="0">
                  <c:v>0</c:v>
                </c:pt>
                <c:pt idx="1">
                  <c:v>0.46</c:v>
                </c:pt>
                <c:pt idx="2">
                  <c:v>0</c:v>
                </c:pt>
                <c:pt idx="3">
                  <c:v>0.45450000000000002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0.58209999999999995</c:v>
                </c:pt>
                <c:pt idx="8">
                  <c:v>0</c:v>
                </c:pt>
                <c:pt idx="9">
                  <c:v>62</c:v>
                </c:pt>
                <c:pt idx="10">
                  <c:v>0</c:v>
                </c:pt>
                <c:pt idx="11">
                  <c:v>247</c:v>
                </c:pt>
                <c:pt idx="12">
                  <c:v>0</c:v>
                </c:pt>
                <c:pt idx="13">
                  <c:v>249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5-61C8-4E7F-A975-A227F734494C}"/>
            </c:ext>
          </c:extLst>
        </c:ser>
        <c:ser>
          <c:idx val="6"/>
          <c:order val="6"/>
          <c:spPr>
            <a:solidFill>
              <a:schemeClr val="accent1">
                <a:lumMod val="60000"/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strRef>
              <c:f>Append1!$U$4:$AH$4</c:f>
              <c:strCache>
                <c:ptCount val="13"/>
                <c:pt idx="0">
                  <c:v>temp</c:v>
                </c:pt>
                <c:pt idx="2">
                  <c:v>atemp</c:v>
                </c:pt>
                <c:pt idx="4">
                  <c:v>hum</c:v>
                </c:pt>
                <c:pt idx="6">
                  <c:v>windspeed</c:v>
                </c:pt>
                <c:pt idx="8">
                  <c:v>casual</c:v>
                </c:pt>
                <c:pt idx="10">
                  <c:v>registered</c:v>
                </c:pt>
                <c:pt idx="12">
                  <c:v>cnt</c:v>
                </c:pt>
              </c:strCache>
            </c:strRef>
          </c:xVal>
          <c:yVal>
            <c:numRef>
              <c:f>Append1!$U$17:$AH$17</c:f>
              <c:numCache>
                <c:formatCode>General</c:formatCode>
                <c:ptCount val="14"/>
                <c:pt idx="0">
                  <c:v>0</c:v>
                </c:pt>
                <c:pt idx="1">
                  <c:v>205.89999999999961</c:v>
                </c:pt>
                <c:pt idx="2">
                  <c:v>0</c:v>
                </c:pt>
                <c:pt idx="3">
                  <c:v>209.62630000000055</c:v>
                </c:pt>
                <c:pt idx="4">
                  <c:v>0</c:v>
                </c:pt>
                <c:pt idx="5">
                  <c:v>582.48000000000036</c:v>
                </c:pt>
                <c:pt idx="6">
                  <c:v>0</c:v>
                </c:pt>
                <c:pt idx="7">
                  <c:v>194.93129999999903</c:v>
                </c:pt>
                <c:pt idx="8">
                  <c:v>0</c:v>
                </c:pt>
                <c:pt idx="9">
                  <c:v>4921</c:v>
                </c:pt>
                <c:pt idx="10">
                  <c:v>0</c:v>
                </c:pt>
                <c:pt idx="11">
                  <c:v>53383</c:v>
                </c:pt>
                <c:pt idx="12">
                  <c:v>0</c:v>
                </c:pt>
                <c:pt idx="13">
                  <c:v>58304</c:v>
                </c:pt>
              </c:numCache>
            </c:numRef>
          </c:yVal>
          <c:bubbleSize>
            <c:numRef>
              <c:f>Append1!$U$18:$AH$18</c:f>
              <c:numCache>
                <c:formatCode>General</c:formatCode>
                <c:ptCount val="14"/>
                <c:pt idx="0">
                  <c:v>0</c:v>
                </c:pt>
                <c:pt idx="1">
                  <c:v>1000</c:v>
                </c:pt>
                <c:pt idx="2">
                  <c:v>0</c:v>
                </c:pt>
                <c:pt idx="3">
                  <c:v>989</c:v>
                </c:pt>
                <c:pt idx="4">
                  <c:v>0</c:v>
                </c:pt>
                <c:pt idx="5">
                  <c:v>1000</c:v>
                </c:pt>
                <c:pt idx="6">
                  <c:v>0</c:v>
                </c:pt>
                <c:pt idx="7">
                  <c:v>1000</c:v>
                </c:pt>
                <c:pt idx="8">
                  <c:v>0</c:v>
                </c:pt>
                <c:pt idx="9">
                  <c:v>1000</c:v>
                </c:pt>
                <c:pt idx="10">
                  <c:v>0</c:v>
                </c:pt>
                <c:pt idx="11">
                  <c:v>1000</c:v>
                </c:pt>
                <c:pt idx="12">
                  <c:v>0</c:v>
                </c:pt>
                <c:pt idx="13">
                  <c:v>1000</c:v>
                </c:pt>
              </c:numCache>
            </c:numRef>
          </c:bubbleSize>
          <c:bubble3D val="1"/>
          <c:extLst>
            <c:ext xmlns:c16="http://schemas.microsoft.com/office/drawing/2014/chart" uri="{C3380CC4-5D6E-409C-BE32-E72D297353CC}">
              <c16:uniqueId val="{00000006-61C8-4E7F-A975-A227F7344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32463296"/>
        <c:axId val="258759696"/>
      </c:bubbleChart>
      <c:valAx>
        <c:axId val="232463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759696"/>
        <c:crosses val="autoZero"/>
        <c:crossBetween val="midCat"/>
      </c:valAx>
      <c:valAx>
        <c:axId val="25875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4632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335157123607636E-2"/>
          <c:y val="4.8077876188754719E-2"/>
          <c:w val="0.91877028414926398"/>
          <c:h val="0.71093540580154757"/>
        </c:manualLayout>
      </c:layout>
      <c:lineChart>
        <c:grouping val="standard"/>
        <c:varyColors val="0"/>
        <c:ser>
          <c:idx val="0"/>
          <c:order val="0"/>
          <c:tx>
            <c:strRef>
              <c:f>'forecast '!$B$1</c:f>
              <c:strCache>
                <c:ptCount val="1"/>
                <c:pt idx="0">
                  <c:v>cnt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none"/>
          </c:marker>
          <c:trendline>
            <c:spPr>
              <a:ln w="12700" cap="rnd">
                <a:noFill/>
              </a:ln>
              <a:effectLst/>
            </c:spPr>
            <c:trendlineType val="linear"/>
            <c:dispRSqr val="0"/>
            <c:dispEq val="0"/>
          </c:trendline>
          <c:val>
            <c:numRef>
              <c:f>'forecast '!$B$2:$B$58</c:f>
              <c:numCache>
                <c:formatCode>General</c:formatCode>
                <c:ptCount val="57"/>
                <c:pt idx="0">
                  <c:v>41.041666666666664</c:v>
                </c:pt>
                <c:pt idx="1">
                  <c:v>34.826086956521742</c:v>
                </c:pt>
                <c:pt idx="2">
                  <c:v>61.31818181818182</c:v>
                </c:pt>
                <c:pt idx="3">
                  <c:v>67.913043478260875</c:v>
                </c:pt>
                <c:pt idx="4">
                  <c:v>69.565217391304344</c:v>
                </c:pt>
                <c:pt idx="5">
                  <c:v>69.826086956521735</c:v>
                </c:pt>
                <c:pt idx="6">
                  <c:v>65.652173913043484</c:v>
                </c:pt>
                <c:pt idx="7">
                  <c:v>39.958333333333336</c:v>
                </c:pt>
                <c:pt idx="8">
                  <c:v>34.25</c:v>
                </c:pt>
                <c:pt idx="9">
                  <c:v>55.041666666666664</c:v>
                </c:pt>
                <c:pt idx="10">
                  <c:v>57.409090909090907</c:v>
                </c:pt>
                <c:pt idx="11">
                  <c:v>52.81818181818182</c:v>
                </c:pt>
                <c:pt idx="12">
                  <c:v>58.583333333333336</c:v>
                </c:pt>
                <c:pt idx="13">
                  <c:v>61.782608695652172</c:v>
                </c:pt>
                <c:pt idx="14">
                  <c:v>52</c:v>
                </c:pt>
                <c:pt idx="15">
                  <c:v>50.166666666666664</c:v>
                </c:pt>
                <c:pt idx="16">
                  <c:v>41.666666666666664</c:v>
                </c:pt>
                <c:pt idx="17">
                  <c:v>56.916666666666664</c:v>
                </c:pt>
                <c:pt idx="18">
                  <c:v>71.739130434782609</c:v>
                </c:pt>
                <c:pt idx="19">
                  <c:v>80.291666666666671</c:v>
                </c:pt>
                <c:pt idx="20">
                  <c:v>64.291666666666671</c:v>
                </c:pt>
                <c:pt idx="21">
                  <c:v>42.652173913043477</c:v>
                </c:pt>
                <c:pt idx="22">
                  <c:v>42.869565217391305</c:v>
                </c:pt>
                <c:pt idx="23">
                  <c:v>61.565217391304351</c:v>
                </c:pt>
                <c:pt idx="24">
                  <c:v>86.304347826086953</c:v>
                </c:pt>
                <c:pt idx="25">
                  <c:v>31.625</c:v>
                </c:pt>
                <c:pt idx="26">
                  <c:v>53.875</c:v>
                </c:pt>
                <c:pt idx="27">
                  <c:v>50.739130434782609</c:v>
                </c:pt>
                <c:pt idx="28">
                  <c:v>47.739130434782609</c:v>
                </c:pt>
                <c:pt idx="29">
                  <c:v>47.652173913043477</c:v>
                </c:pt>
                <c:pt idx="30">
                  <c:v>62.541666666666664</c:v>
                </c:pt>
                <c:pt idx="31">
                  <c:v>59.130434782608695</c:v>
                </c:pt>
                <c:pt idx="32">
                  <c:v>63.583333333333336</c:v>
                </c:pt>
                <c:pt idx="33">
                  <c:v>67.391304347826093</c:v>
                </c:pt>
                <c:pt idx="34">
                  <c:v>74.260869565217391</c:v>
                </c:pt>
                <c:pt idx="35">
                  <c:v>41.875</c:v>
                </c:pt>
                <c:pt idx="36">
                  <c:v>67.625</c:v>
                </c:pt>
                <c:pt idx="37">
                  <c:v>71.333333333333329</c:v>
                </c:pt>
                <c:pt idx="38">
                  <c:v>63.75</c:v>
                </c:pt>
                <c:pt idx="39">
                  <c:v>69.782608695652172</c:v>
                </c:pt>
                <c:pt idx="40">
                  <c:v>66.869565217391298</c:v>
                </c:pt>
                <c:pt idx="41">
                  <c:v>79.36363636363636</c:v>
                </c:pt>
                <c:pt idx="42">
                  <c:v>61.333333333333336</c:v>
                </c:pt>
                <c:pt idx="43">
                  <c:v>69.086956521739125</c:v>
                </c:pt>
                <c:pt idx="44">
                  <c:v>18.875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1C-4F4F-A7D6-4D2B0DD29C0C}"/>
            </c:ext>
          </c:extLst>
        </c:ser>
        <c:ser>
          <c:idx val="1"/>
          <c:order val="1"/>
          <c:tx>
            <c:strRef>
              <c:f>'forecast '!$C$1</c:f>
              <c:strCache>
                <c:ptCount val="1"/>
                <c:pt idx="0">
                  <c:v>Forecast(cnt)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none"/>
          </c:marker>
          <c:cat>
            <c:numRef>
              <c:f>'forecast 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'!$C$2:$C$58</c:f>
              <c:numCache>
                <c:formatCode>General</c:formatCode>
                <c:ptCount val="57"/>
                <c:pt idx="44">
                  <c:v>18.875</c:v>
                </c:pt>
                <c:pt idx="45">
                  <c:v>61.270134143024279</c:v>
                </c:pt>
                <c:pt idx="46">
                  <c:v>61.525827765725516</c:v>
                </c:pt>
                <c:pt idx="47">
                  <c:v>61.781521388426746</c:v>
                </c:pt>
                <c:pt idx="48">
                  <c:v>62.037215011127984</c:v>
                </c:pt>
                <c:pt idx="49">
                  <c:v>62.292908633829221</c:v>
                </c:pt>
                <c:pt idx="50">
                  <c:v>62.548602256530458</c:v>
                </c:pt>
                <c:pt idx="51">
                  <c:v>62.804295879231688</c:v>
                </c:pt>
                <c:pt idx="52">
                  <c:v>63.059989501932925</c:v>
                </c:pt>
                <c:pt idx="53">
                  <c:v>63.315683124634162</c:v>
                </c:pt>
                <c:pt idx="54">
                  <c:v>63.5713767473354</c:v>
                </c:pt>
                <c:pt idx="55">
                  <c:v>63.827070370036637</c:v>
                </c:pt>
                <c:pt idx="56">
                  <c:v>64.082763992737867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1C-4F4F-A7D6-4D2B0DD29C0C}"/>
            </c:ext>
          </c:extLst>
        </c:ser>
        <c:ser>
          <c:idx val="2"/>
          <c:order val="2"/>
          <c:tx>
            <c:strRef>
              <c:f>'forecast '!$D$1</c:f>
              <c:strCache>
                <c:ptCount val="1"/>
                <c:pt idx="0">
                  <c:v>Lower Confidence Bound(cnt)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none"/>
          </c:marker>
          <c:cat>
            <c:numRef>
              <c:f>'forecast 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'!$D$2:$D$58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31.858655883675784</c:v>
                </c:pt>
                <c:pt idx="46" formatCode="0.00">
                  <c:v>31.878109408718345</c:v>
                </c:pt>
                <c:pt idx="47" formatCode="0.00">
                  <c:v>31.895739851191895</c:v>
                </c:pt>
                <c:pt idx="48" formatCode="0.00">
                  <c:v>31.911561716718598</c:v>
                </c:pt>
                <c:pt idx="49" formatCode="0.00">
                  <c:v>31.925589377473688</c:v>
                </c:pt>
                <c:pt idx="50" formatCode="0.00">
                  <c:v>31.937837068955986</c:v>
                </c:pt>
                <c:pt idx="51" formatCode="0.00">
                  <c:v>31.948318887095059</c:v>
                </c:pt>
                <c:pt idx="52" formatCode="0.00">
                  <c:v>31.95704878567814</c:v>
                </c:pt>
                <c:pt idx="53" formatCode="0.00">
                  <c:v>31.964040574080091</c:v>
                </c:pt>
                <c:pt idx="54" formatCode="0.00">
                  <c:v>31.969307915280588</c:v>
                </c:pt>
                <c:pt idx="55" formatCode="0.00">
                  <c:v>31.972864324152855</c:v>
                </c:pt>
                <c:pt idx="56" formatCode="0.00">
                  <c:v>31.974723166009028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1C-4F4F-A7D6-4D2B0DD29C0C}"/>
            </c:ext>
          </c:extLst>
        </c:ser>
        <c:ser>
          <c:idx val="3"/>
          <c:order val="3"/>
          <c:tx>
            <c:strRef>
              <c:f>'forecast '!$E$1</c:f>
              <c:strCache>
                <c:ptCount val="1"/>
                <c:pt idx="0">
                  <c:v>Upper Confidence Bound(cnt)</c:v>
                </c:pt>
              </c:strCache>
            </c:strRef>
          </c:tx>
          <c:spPr>
            <a:ln w="38100" cap="flat" cmpd="dbl" algn="ctr">
              <a:solidFill>
                <a:schemeClr val="accent4"/>
              </a:solidFill>
              <a:miter lim="800000"/>
            </a:ln>
            <a:effectLst/>
          </c:spPr>
          <c:marker>
            <c:symbol val="none"/>
          </c:marker>
          <c:cat>
            <c:numRef>
              <c:f>'forecast 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'!$E$2:$E$58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90.681612402372778</c:v>
                </c:pt>
                <c:pt idx="46" formatCode="0.00">
                  <c:v>91.173546122732688</c:v>
                </c:pt>
                <c:pt idx="47" formatCode="0.00">
                  <c:v>91.667302925661602</c:v>
                </c:pt>
                <c:pt idx="48" formatCode="0.00">
                  <c:v>92.162868305537373</c:v>
                </c:pt>
                <c:pt idx="49" formatCode="0.00">
                  <c:v>92.660227890184757</c:v>
                </c:pt>
                <c:pt idx="50" formatCode="0.00">
                  <c:v>93.15936744410493</c:v>
                </c:pt>
                <c:pt idx="51" formatCode="0.00">
                  <c:v>93.660272871368321</c:v>
                </c:pt>
                <c:pt idx="52" formatCode="0.00">
                  <c:v>94.162930218187711</c:v>
                </c:pt>
                <c:pt idx="53" formatCode="0.00">
                  <c:v>94.667325675188238</c:v>
                </c:pt>
                <c:pt idx="54" formatCode="0.00">
                  <c:v>95.173445579390204</c:v>
                </c:pt>
                <c:pt idx="55" formatCode="0.00">
                  <c:v>95.681276415920422</c:v>
                </c:pt>
                <c:pt idx="56" formatCode="0.00">
                  <c:v>96.190804819466706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E1C-4F4F-A7D6-4D2B0DD29C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8574783"/>
        <c:axId val="1293527535"/>
      </c:lineChart>
      <c:catAx>
        <c:axId val="478574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low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527535"/>
        <c:crosses val="autoZero"/>
        <c:auto val="1"/>
        <c:lblAlgn val="ctr"/>
        <c:lblOffset val="100"/>
        <c:noMultiLvlLbl val="0"/>
      </c:catAx>
      <c:valAx>
        <c:axId val="1293527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574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2BED9-AA7E-4B89-A8EC-A81A43D540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916EF2-1B0C-4327-9189-77FC56DE3197}">
      <dgm:prSet phldrT="[Text]" phldr="0"/>
      <dgm:spPr/>
      <dgm:t>
        <a:bodyPr/>
        <a:lstStyle/>
        <a:p>
          <a:r>
            <a:rPr lang="en-US"/>
            <a:t>Bike </a:t>
          </a:r>
          <a:endParaRPr lang="en-IN"/>
        </a:p>
      </dgm:t>
    </dgm:pt>
    <dgm:pt modelId="{F1F9B945-6ED3-4942-A0AD-2F12C87FD6EB}" type="parTrans" cxnId="{B735882C-5089-4474-BF98-4F54C4C4DADB}">
      <dgm:prSet/>
      <dgm:spPr/>
      <dgm:t>
        <a:bodyPr/>
        <a:lstStyle/>
        <a:p>
          <a:endParaRPr lang="en-IN"/>
        </a:p>
      </dgm:t>
    </dgm:pt>
    <dgm:pt modelId="{CE9B55CE-DBDB-4C6E-9EFB-82374F7F215E}" type="sibTrans" cxnId="{B735882C-5089-4474-BF98-4F54C4C4DADB}">
      <dgm:prSet/>
      <dgm:spPr/>
      <dgm:t>
        <a:bodyPr/>
        <a:lstStyle/>
        <a:p>
          <a:endParaRPr lang="en-IN"/>
        </a:p>
      </dgm:t>
    </dgm:pt>
    <dgm:pt modelId="{30A60638-01E7-4B1F-8395-CC279E1684F6}" type="asst">
      <dgm:prSet phldrT="[Text]" phldr="0"/>
      <dgm:spPr/>
      <dgm:t>
        <a:bodyPr/>
        <a:lstStyle/>
        <a:p>
          <a:r>
            <a:rPr lang="en-US" dirty="0"/>
            <a:t>Total rental58.304 </a:t>
          </a:r>
          <a:endParaRPr lang="en-IN" dirty="0"/>
        </a:p>
      </dgm:t>
    </dgm:pt>
    <dgm:pt modelId="{9320F5D3-F2FA-4E86-8309-9D023E7485B7}" type="parTrans" cxnId="{53442A2A-846B-4BB0-844E-03BDC502C2C2}">
      <dgm:prSet/>
      <dgm:spPr/>
      <dgm:t>
        <a:bodyPr/>
        <a:lstStyle/>
        <a:p>
          <a:endParaRPr lang="en-IN"/>
        </a:p>
      </dgm:t>
    </dgm:pt>
    <dgm:pt modelId="{6D2F1F93-9BF1-4F3D-95F3-17122D44C417}" type="sibTrans" cxnId="{53442A2A-846B-4BB0-844E-03BDC502C2C2}">
      <dgm:prSet/>
      <dgm:spPr/>
      <dgm:t>
        <a:bodyPr/>
        <a:lstStyle/>
        <a:p>
          <a:endParaRPr lang="en-IN"/>
        </a:p>
      </dgm:t>
    </dgm:pt>
    <dgm:pt modelId="{1C73A70F-0695-438F-93ED-253AE39E6864}" type="asst">
      <dgm:prSet phldrT="[Text]" phldr="0"/>
      <dgm:spPr/>
      <dgm:t>
        <a:bodyPr/>
        <a:lstStyle/>
        <a:p>
          <a:r>
            <a:rPr lang="en-US" dirty="0"/>
            <a:t>Causal 4921</a:t>
          </a:r>
          <a:endParaRPr lang="en-IN" dirty="0"/>
        </a:p>
      </dgm:t>
    </dgm:pt>
    <dgm:pt modelId="{2462952B-6245-4FE5-ABD1-070771401490}" type="parTrans" cxnId="{F7FF3C39-E5B9-4A63-B998-F7A62C893416}">
      <dgm:prSet/>
      <dgm:spPr/>
      <dgm:t>
        <a:bodyPr/>
        <a:lstStyle/>
        <a:p>
          <a:endParaRPr lang="en-IN"/>
        </a:p>
      </dgm:t>
    </dgm:pt>
    <dgm:pt modelId="{5EE3E4D0-2026-4041-A1AD-5D1BA60A4C28}" type="sibTrans" cxnId="{F7FF3C39-E5B9-4A63-B998-F7A62C893416}">
      <dgm:prSet/>
      <dgm:spPr/>
      <dgm:t>
        <a:bodyPr/>
        <a:lstStyle/>
        <a:p>
          <a:endParaRPr lang="en-IN"/>
        </a:p>
      </dgm:t>
    </dgm:pt>
    <dgm:pt modelId="{147CB59B-2570-4899-BD1F-EB7232480F1E}">
      <dgm:prSet phldrT="[Text]" phldr="0"/>
      <dgm:spPr/>
      <dgm:t>
        <a:bodyPr/>
        <a:lstStyle/>
        <a:p>
          <a:r>
            <a:rPr lang="en-US" dirty="0"/>
            <a:t>Total count 1000</a:t>
          </a:r>
          <a:endParaRPr lang="en-IN" dirty="0"/>
        </a:p>
      </dgm:t>
    </dgm:pt>
    <dgm:pt modelId="{E7181E3F-BF07-409B-99C0-24A816439696}" type="sibTrans" cxnId="{CE932C22-464D-455D-B3B4-F95CBD9CE792}">
      <dgm:prSet/>
      <dgm:spPr/>
      <dgm:t>
        <a:bodyPr/>
        <a:lstStyle/>
        <a:p>
          <a:endParaRPr lang="en-IN"/>
        </a:p>
      </dgm:t>
    </dgm:pt>
    <dgm:pt modelId="{F6F09A33-311B-4024-A8C8-5D1C7FDECBEE}" type="parTrans" cxnId="{CE932C22-464D-455D-B3B4-F95CBD9CE792}">
      <dgm:prSet/>
      <dgm:spPr/>
      <dgm:t>
        <a:bodyPr/>
        <a:lstStyle/>
        <a:p>
          <a:endParaRPr lang="en-IN"/>
        </a:p>
      </dgm:t>
    </dgm:pt>
    <dgm:pt modelId="{5CBD7848-FACE-4B5C-A0E4-10B2F5297A7E}" type="pres">
      <dgm:prSet presAssocID="{61C2BED9-AA7E-4B89-A8EC-A81A43D540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81778A-8549-49B2-96F7-F863531D6CC3}" type="pres">
      <dgm:prSet presAssocID="{00916EF2-1B0C-4327-9189-77FC56DE3197}" presName="hierRoot1" presStyleCnt="0">
        <dgm:presLayoutVars>
          <dgm:hierBranch val="init"/>
        </dgm:presLayoutVars>
      </dgm:prSet>
      <dgm:spPr/>
    </dgm:pt>
    <dgm:pt modelId="{0ED749B0-1720-4727-9F15-8ACBD844D8EF}" type="pres">
      <dgm:prSet presAssocID="{00916EF2-1B0C-4327-9189-77FC56DE3197}" presName="rootComposite1" presStyleCnt="0"/>
      <dgm:spPr/>
    </dgm:pt>
    <dgm:pt modelId="{A18001E5-A9E0-4B2C-98EF-E6D3B04249BC}" type="pres">
      <dgm:prSet presAssocID="{00916EF2-1B0C-4327-9189-77FC56DE3197}" presName="rootText1" presStyleLbl="node0" presStyleIdx="0" presStyleCnt="1">
        <dgm:presLayoutVars>
          <dgm:chPref val="3"/>
        </dgm:presLayoutVars>
      </dgm:prSet>
      <dgm:spPr/>
    </dgm:pt>
    <dgm:pt modelId="{AEFCD948-273C-4308-989B-BA7880B52F56}" type="pres">
      <dgm:prSet presAssocID="{00916EF2-1B0C-4327-9189-77FC56DE3197}" presName="rootConnector1" presStyleLbl="node1" presStyleIdx="0" presStyleCnt="0"/>
      <dgm:spPr/>
    </dgm:pt>
    <dgm:pt modelId="{65775B2A-1EAC-4A8E-9ACF-A059608081F1}" type="pres">
      <dgm:prSet presAssocID="{00916EF2-1B0C-4327-9189-77FC56DE3197}" presName="hierChild2" presStyleCnt="0"/>
      <dgm:spPr/>
    </dgm:pt>
    <dgm:pt modelId="{D2B66777-C400-44F0-A517-419450D684CF}" type="pres">
      <dgm:prSet presAssocID="{F6F09A33-311B-4024-A8C8-5D1C7FDECBEE}" presName="Name37" presStyleLbl="parChTrans1D2" presStyleIdx="0" presStyleCnt="3"/>
      <dgm:spPr/>
    </dgm:pt>
    <dgm:pt modelId="{5E1BDFB2-BFB8-4220-9E36-917475EF62F9}" type="pres">
      <dgm:prSet presAssocID="{147CB59B-2570-4899-BD1F-EB7232480F1E}" presName="hierRoot2" presStyleCnt="0">
        <dgm:presLayoutVars>
          <dgm:hierBranch val="init"/>
        </dgm:presLayoutVars>
      </dgm:prSet>
      <dgm:spPr/>
    </dgm:pt>
    <dgm:pt modelId="{DC1380EB-C1EE-4D3C-96A6-2B22E318FC47}" type="pres">
      <dgm:prSet presAssocID="{147CB59B-2570-4899-BD1F-EB7232480F1E}" presName="rootComposite" presStyleCnt="0"/>
      <dgm:spPr/>
    </dgm:pt>
    <dgm:pt modelId="{D0BD0BA7-D1DE-4ED6-8BF9-7B8D94F444B2}" type="pres">
      <dgm:prSet presAssocID="{147CB59B-2570-4899-BD1F-EB7232480F1E}" presName="rootText" presStyleLbl="node2" presStyleIdx="0" presStyleCnt="1">
        <dgm:presLayoutVars>
          <dgm:chPref val="3"/>
        </dgm:presLayoutVars>
      </dgm:prSet>
      <dgm:spPr/>
    </dgm:pt>
    <dgm:pt modelId="{D474F127-9EB4-407F-BF67-D913D76CB9F8}" type="pres">
      <dgm:prSet presAssocID="{147CB59B-2570-4899-BD1F-EB7232480F1E}" presName="rootConnector" presStyleLbl="node2" presStyleIdx="0" presStyleCnt="1"/>
      <dgm:spPr/>
    </dgm:pt>
    <dgm:pt modelId="{F924F535-6BF0-4862-A933-F0449A3C4E80}" type="pres">
      <dgm:prSet presAssocID="{147CB59B-2570-4899-BD1F-EB7232480F1E}" presName="hierChild4" presStyleCnt="0"/>
      <dgm:spPr/>
    </dgm:pt>
    <dgm:pt modelId="{85D5BBC5-D6F8-4A94-8F87-3BFFD73EF6E8}" type="pres">
      <dgm:prSet presAssocID="{147CB59B-2570-4899-BD1F-EB7232480F1E}" presName="hierChild5" presStyleCnt="0"/>
      <dgm:spPr/>
    </dgm:pt>
    <dgm:pt modelId="{8814D763-AEDE-4C77-8BC7-32E6391EE21C}" type="pres">
      <dgm:prSet presAssocID="{00916EF2-1B0C-4327-9189-77FC56DE3197}" presName="hierChild3" presStyleCnt="0"/>
      <dgm:spPr/>
    </dgm:pt>
    <dgm:pt modelId="{D0847AF3-7538-4915-B6CD-98C1AB8CBC26}" type="pres">
      <dgm:prSet presAssocID="{9320F5D3-F2FA-4E86-8309-9D023E7485B7}" presName="Name111" presStyleLbl="parChTrans1D2" presStyleIdx="1" presStyleCnt="3"/>
      <dgm:spPr/>
    </dgm:pt>
    <dgm:pt modelId="{639AB5E7-A536-4AEF-850F-F4C8F28E8345}" type="pres">
      <dgm:prSet presAssocID="{30A60638-01E7-4B1F-8395-CC279E1684F6}" presName="hierRoot3" presStyleCnt="0">
        <dgm:presLayoutVars>
          <dgm:hierBranch val="init"/>
        </dgm:presLayoutVars>
      </dgm:prSet>
      <dgm:spPr/>
    </dgm:pt>
    <dgm:pt modelId="{D9FA76DB-4B79-4AD2-B298-2B00EA929A3C}" type="pres">
      <dgm:prSet presAssocID="{30A60638-01E7-4B1F-8395-CC279E1684F6}" presName="rootComposite3" presStyleCnt="0"/>
      <dgm:spPr/>
    </dgm:pt>
    <dgm:pt modelId="{FA23BDB7-77F3-4F58-ABD6-7CA1C14F567E}" type="pres">
      <dgm:prSet presAssocID="{30A60638-01E7-4B1F-8395-CC279E1684F6}" presName="rootText3" presStyleLbl="asst1" presStyleIdx="0" presStyleCnt="2">
        <dgm:presLayoutVars>
          <dgm:chPref val="3"/>
        </dgm:presLayoutVars>
      </dgm:prSet>
      <dgm:spPr/>
    </dgm:pt>
    <dgm:pt modelId="{C1651E89-2AD2-4A00-899E-D54EB8F98514}" type="pres">
      <dgm:prSet presAssocID="{30A60638-01E7-4B1F-8395-CC279E1684F6}" presName="rootConnector3" presStyleLbl="asst1" presStyleIdx="0" presStyleCnt="2"/>
      <dgm:spPr/>
    </dgm:pt>
    <dgm:pt modelId="{165CE444-E671-4793-9582-4280F5074B55}" type="pres">
      <dgm:prSet presAssocID="{30A60638-01E7-4B1F-8395-CC279E1684F6}" presName="hierChild6" presStyleCnt="0"/>
      <dgm:spPr/>
    </dgm:pt>
    <dgm:pt modelId="{08B5233A-AFB3-4DAB-8279-5B629DEF016B}" type="pres">
      <dgm:prSet presAssocID="{30A60638-01E7-4B1F-8395-CC279E1684F6}" presName="hierChild7" presStyleCnt="0"/>
      <dgm:spPr/>
    </dgm:pt>
    <dgm:pt modelId="{7F6E2296-04F5-48CC-8DC2-71B4C750894B}" type="pres">
      <dgm:prSet presAssocID="{2462952B-6245-4FE5-ABD1-070771401490}" presName="Name111" presStyleLbl="parChTrans1D2" presStyleIdx="2" presStyleCnt="3"/>
      <dgm:spPr/>
    </dgm:pt>
    <dgm:pt modelId="{84C45B07-D9EB-486A-A391-6ECFE7146081}" type="pres">
      <dgm:prSet presAssocID="{1C73A70F-0695-438F-93ED-253AE39E6864}" presName="hierRoot3" presStyleCnt="0">
        <dgm:presLayoutVars>
          <dgm:hierBranch val="init"/>
        </dgm:presLayoutVars>
      </dgm:prSet>
      <dgm:spPr/>
    </dgm:pt>
    <dgm:pt modelId="{25186600-A4FA-489F-A606-6FF8E024D7E7}" type="pres">
      <dgm:prSet presAssocID="{1C73A70F-0695-438F-93ED-253AE39E6864}" presName="rootComposite3" presStyleCnt="0"/>
      <dgm:spPr/>
    </dgm:pt>
    <dgm:pt modelId="{A48446E9-E0B9-4F2E-B5E3-E032D16AE34F}" type="pres">
      <dgm:prSet presAssocID="{1C73A70F-0695-438F-93ED-253AE39E6864}" presName="rootText3" presStyleLbl="asst1" presStyleIdx="1" presStyleCnt="2">
        <dgm:presLayoutVars>
          <dgm:chPref val="3"/>
        </dgm:presLayoutVars>
      </dgm:prSet>
      <dgm:spPr/>
    </dgm:pt>
    <dgm:pt modelId="{F1032F49-C787-4630-AD8D-584100E64C1F}" type="pres">
      <dgm:prSet presAssocID="{1C73A70F-0695-438F-93ED-253AE39E6864}" presName="rootConnector3" presStyleLbl="asst1" presStyleIdx="1" presStyleCnt="2"/>
      <dgm:spPr/>
    </dgm:pt>
    <dgm:pt modelId="{6F7AB8DB-35E5-4F2A-B529-1BCAC2578672}" type="pres">
      <dgm:prSet presAssocID="{1C73A70F-0695-438F-93ED-253AE39E6864}" presName="hierChild6" presStyleCnt="0"/>
      <dgm:spPr/>
    </dgm:pt>
    <dgm:pt modelId="{306B3AA0-1FD0-4A1F-8967-5D32EB1ACB33}" type="pres">
      <dgm:prSet presAssocID="{1C73A70F-0695-438F-93ED-253AE39E6864}" presName="hierChild7" presStyleCnt="0"/>
      <dgm:spPr/>
    </dgm:pt>
  </dgm:ptLst>
  <dgm:cxnLst>
    <dgm:cxn modelId="{BB9A7F16-7412-44F6-A2D2-BB8C742140C1}" type="presOf" srcId="{F6F09A33-311B-4024-A8C8-5D1C7FDECBEE}" destId="{D2B66777-C400-44F0-A517-419450D684CF}" srcOrd="0" destOrd="0" presId="urn:microsoft.com/office/officeart/2005/8/layout/orgChart1"/>
    <dgm:cxn modelId="{D0650619-D33C-4432-B6B3-284AC4B6543A}" type="presOf" srcId="{2462952B-6245-4FE5-ABD1-070771401490}" destId="{7F6E2296-04F5-48CC-8DC2-71B4C750894B}" srcOrd="0" destOrd="0" presId="urn:microsoft.com/office/officeart/2005/8/layout/orgChart1"/>
    <dgm:cxn modelId="{CE932C22-464D-455D-B3B4-F95CBD9CE792}" srcId="{00916EF2-1B0C-4327-9189-77FC56DE3197}" destId="{147CB59B-2570-4899-BD1F-EB7232480F1E}" srcOrd="2" destOrd="0" parTransId="{F6F09A33-311B-4024-A8C8-5D1C7FDECBEE}" sibTransId="{E7181E3F-BF07-409B-99C0-24A816439696}"/>
    <dgm:cxn modelId="{53442A2A-846B-4BB0-844E-03BDC502C2C2}" srcId="{00916EF2-1B0C-4327-9189-77FC56DE3197}" destId="{30A60638-01E7-4B1F-8395-CC279E1684F6}" srcOrd="0" destOrd="0" parTransId="{9320F5D3-F2FA-4E86-8309-9D023E7485B7}" sibTransId="{6D2F1F93-9BF1-4F3D-95F3-17122D44C417}"/>
    <dgm:cxn modelId="{DC335D2C-FDE6-4652-8D28-7A0712FD448D}" type="presOf" srcId="{1C73A70F-0695-438F-93ED-253AE39E6864}" destId="{F1032F49-C787-4630-AD8D-584100E64C1F}" srcOrd="1" destOrd="0" presId="urn:microsoft.com/office/officeart/2005/8/layout/orgChart1"/>
    <dgm:cxn modelId="{B735882C-5089-4474-BF98-4F54C4C4DADB}" srcId="{61C2BED9-AA7E-4B89-A8EC-A81A43D540F9}" destId="{00916EF2-1B0C-4327-9189-77FC56DE3197}" srcOrd="0" destOrd="0" parTransId="{F1F9B945-6ED3-4942-A0AD-2F12C87FD6EB}" sibTransId="{CE9B55CE-DBDB-4C6E-9EFB-82374F7F215E}"/>
    <dgm:cxn modelId="{F7FF3C39-E5B9-4A63-B998-F7A62C893416}" srcId="{00916EF2-1B0C-4327-9189-77FC56DE3197}" destId="{1C73A70F-0695-438F-93ED-253AE39E6864}" srcOrd="1" destOrd="0" parTransId="{2462952B-6245-4FE5-ABD1-070771401490}" sibTransId="{5EE3E4D0-2026-4041-A1AD-5D1BA60A4C28}"/>
    <dgm:cxn modelId="{1638F85E-FE08-4DA0-8870-044C36CB8AE3}" type="presOf" srcId="{30A60638-01E7-4B1F-8395-CC279E1684F6}" destId="{FA23BDB7-77F3-4F58-ABD6-7CA1C14F567E}" srcOrd="0" destOrd="0" presId="urn:microsoft.com/office/officeart/2005/8/layout/orgChart1"/>
    <dgm:cxn modelId="{86D62269-C7E2-4BFD-B2C8-14099A85648B}" type="presOf" srcId="{61C2BED9-AA7E-4B89-A8EC-A81A43D540F9}" destId="{5CBD7848-FACE-4B5C-A0E4-10B2F5297A7E}" srcOrd="0" destOrd="0" presId="urn:microsoft.com/office/officeart/2005/8/layout/orgChart1"/>
    <dgm:cxn modelId="{1C350F4B-1AC8-4D40-B083-7AF6698E2228}" type="presOf" srcId="{30A60638-01E7-4B1F-8395-CC279E1684F6}" destId="{C1651E89-2AD2-4A00-899E-D54EB8F98514}" srcOrd="1" destOrd="0" presId="urn:microsoft.com/office/officeart/2005/8/layout/orgChart1"/>
    <dgm:cxn modelId="{E5987A6D-66A5-48D7-A6BE-DA2ADB8A15F3}" type="presOf" srcId="{00916EF2-1B0C-4327-9189-77FC56DE3197}" destId="{AEFCD948-273C-4308-989B-BA7880B52F56}" srcOrd="1" destOrd="0" presId="urn:microsoft.com/office/officeart/2005/8/layout/orgChart1"/>
    <dgm:cxn modelId="{95DB206F-7D4F-4D43-A158-B45DBF93220E}" type="presOf" srcId="{00916EF2-1B0C-4327-9189-77FC56DE3197}" destId="{A18001E5-A9E0-4B2C-98EF-E6D3B04249BC}" srcOrd="0" destOrd="0" presId="urn:microsoft.com/office/officeart/2005/8/layout/orgChart1"/>
    <dgm:cxn modelId="{1F530B77-C6EA-4AFC-98D1-67A226EC59BF}" type="presOf" srcId="{147CB59B-2570-4899-BD1F-EB7232480F1E}" destId="{D474F127-9EB4-407F-BF67-D913D76CB9F8}" srcOrd="1" destOrd="0" presId="urn:microsoft.com/office/officeart/2005/8/layout/orgChart1"/>
    <dgm:cxn modelId="{0394CDCC-6E60-4275-9D7F-1C53502678F6}" type="presOf" srcId="{9320F5D3-F2FA-4E86-8309-9D023E7485B7}" destId="{D0847AF3-7538-4915-B6CD-98C1AB8CBC26}" srcOrd="0" destOrd="0" presId="urn:microsoft.com/office/officeart/2005/8/layout/orgChart1"/>
    <dgm:cxn modelId="{CFAD05E9-3381-4FF1-9226-9BA43CC35A9C}" type="presOf" srcId="{147CB59B-2570-4899-BD1F-EB7232480F1E}" destId="{D0BD0BA7-D1DE-4ED6-8BF9-7B8D94F444B2}" srcOrd="0" destOrd="0" presId="urn:microsoft.com/office/officeart/2005/8/layout/orgChart1"/>
    <dgm:cxn modelId="{4CFF0BFF-2952-4564-A8A2-487866886769}" type="presOf" srcId="{1C73A70F-0695-438F-93ED-253AE39E6864}" destId="{A48446E9-E0B9-4F2E-B5E3-E032D16AE34F}" srcOrd="0" destOrd="0" presId="urn:microsoft.com/office/officeart/2005/8/layout/orgChart1"/>
    <dgm:cxn modelId="{52455B69-E4C5-4920-A35B-CB581B11D237}" type="presParOf" srcId="{5CBD7848-FACE-4B5C-A0E4-10B2F5297A7E}" destId="{3081778A-8549-49B2-96F7-F863531D6CC3}" srcOrd="0" destOrd="0" presId="urn:microsoft.com/office/officeart/2005/8/layout/orgChart1"/>
    <dgm:cxn modelId="{84B42E1C-0EFC-4E8B-9BA3-2BCD0651C8A4}" type="presParOf" srcId="{3081778A-8549-49B2-96F7-F863531D6CC3}" destId="{0ED749B0-1720-4727-9F15-8ACBD844D8EF}" srcOrd="0" destOrd="0" presId="urn:microsoft.com/office/officeart/2005/8/layout/orgChart1"/>
    <dgm:cxn modelId="{2DAAF5EB-3D28-44B1-90FF-67972549F914}" type="presParOf" srcId="{0ED749B0-1720-4727-9F15-8ACBD844D8EF}" destId="{A18001E5-A9E0-4B2C-98EF-E6D3B04249BC}" srcOrd="0" destOrd="0" presId="urn:microsoft.com/office/officeart/2005/8/layout/orgChart1"/>
    <dgm:cxn modelId="{59F3CE69-5698-4AE2-92C5-7B1A043FCB45}" type="presParOf" srcId="{0ED749B0-1720-4727-9F15-8ACBD844D8EF}" destId="{AEFCD948-273C-4308-989B-BA7880B52F56}" srcOrd="1" destOrd="0" presId="urn:microsoft.com/office/officeart/2005/8/layout/orgChart1"/>
    <dgm:cxn modelId="{304C4535-778D-49C1-BACA-6AD5CD016D21}" type="presParOf" srcId="{3081778A-8549-49B2-96F7-F863531D6CC3}" destId="{65775B2A-1EAC-4A8E-9ACF-A059608081F1}" srcOrd="1" destOrd="0" presId="urn:microsoft.com/office/officeart/2005/8/layout/orgChart1"/>
    <dgm:cxn modelId="{E2998498-9B2A-464D-91F6-140F60C26A95}" type="presParOf" srcId="{65775B2A-1EAC-4A8E-9ACF-A059608081F1}" destId="{D2B66777-C400-44F0-A517-419450D684CF}" srcOrd="0" destOrd="0" presId="urn:microsoft.com/office/officeart/2005/8/layout/orgChart1"/>
    <dgm:cxn modelId="{DB69D9D4-123E-4903-973E-37BF05783577}" type="presParOf" srcId="{65775B2A-1EAC-4A8E-9ACF-A059608081F1}" destId="{5E1BDFB2-BFB8-4220-9E36-917475EF62F9}" srcOrd="1" destOrd="0" presId="urn:microsoft.com/office/officeart/2005/8/layout/orgChart1"/>
    <dgm:cxn modelId="{79DEDC34-2FE7-44B7-9CE4-130C31422DBB}" type="presParOf" srcId="{5E1BDFB2-BFB8-4220-9E36-917475EF62F9}" destId="{DC1380EB-C1EE-4D3C-96A6-2B22E318FC47}" srcOrd="0" destOrd="0" presId="urn:microsoft.com/office/officeart/2005/8/layout/orgChart1"/>
    <dgm:cxn modelId="{CB5A5BDC-86F9-4F4F-86CB-582DBD244A81}" type="presParOf" srcId="{DC1380EB-C1EE-4D3C-96A6-2B22E318FC47}" destId="{D0BD0BA7-D1DE-4ED6-8BF9-7B8D94F444B2}" srcOrd="0" destOrd="0" presId="urn:microsoft.com/office/officeart/2005/8/layout/orgChart1"/>
    <dgm:cxn modelId="{5725F601-C89E-4F7F-9D40-03561627EA3D}" type="presParOf" srcId="{DC1380EB-C1EE-4D3C-96A6-2B22E318FC47}" destId="{D474F127-9EB4-407F-BF67-D913D76CB9F8}" srcOrd="1" destOrd="0" presId="urn:microsoft.com/office/officeart/2005/8/layout/orgChart1"/>
    <dgm:cxn modelId="{87F108D6-C581-4B79-898E-FAEED744BE16}" type="presParOf" srcId="{5E1BDFB2-BFB8-4220-9E36-917475EF62F9}" destId="{F924F535-6BF0-4862-A933-F0449A3C4E80}" srcOrd="1" destOrd="0" presId="urn:microsoft.com/office/officeart/2005/8/layout/orgChart1"/>
    <dgm:cxn modelId="{1CCD0260-11EB-4D7E-843A-1A61D0C34779}" type="presParOf" srcId="{5E1BDFB2-BFB8-4220-9E36-917475EF62F9}" destId="{85D5BBC5-D6F8-4A94-8F87-3BFFD73EF6E8}" srcOrd="2" destOrd="0" presId="urn:microsoft.com/office/officeart/2005/8/layout/orgChart1"/>
    <dgm:cxn modelId="{DA89C9FD-D197-470C-B62A-7CE17896411F}" type="presParOf" srcId="{3081778A-8549-49B2-96F7-F863531D6CC3}" destId="{8814D763-AEDE-4C77-8BC7-32E6391EE21C}" srcOrd="2" destOrd="0" presId="urn:microsoft.com/office/officeart/2005/8/layout/orgChart1"/>
    <dgm:cxn modelId="{D34DD30E-E895-408F-A74C-E085C385EB1C}" type="presParOf" srcId="{8814D763-AEDE-4C77-8BC7-32E6391EE21C}" destId="{D0847AF3-7538-4915-B6CD-98C1AB8CBC26}" srcOrd="0" destOrd="0" presId="urn:microsoft.com/office/officeart/2005/8/layout/orgChart1"/>
    <dgm:cxn modelId="{88B920AB-FFD2-41D2-8363-C34960D0A426}" type="presParOf" srcId="{8814D763-AEDE-4C77-8BC7-32E6391EE21C}" destId="{639AB5E7-A536-4AEF-850F-F4C8F28E8345}" srcOrd="1" destOrd="0" presId="urn:microsoft.com/office/officeart/2005/8/layout/orgChart1"/>
    <dgm:cxn modelId="{891CA2A0-8B14-453E-B3ED-A7497202D61D}" type="presParOf" srcId="{639AB5E7-A536-4AEF-850F-F4C8F28E8345}" destId="{D9FA76DB-4B79-4AD2-B298-2B00EA929A3C}" srcOrd="0" destOrd="0" presId="urn:microsoft.com/office/officeart/2005/8/layout/orgChart1"/>
    <dgm:cxn modelId="{CB66331C-04C1-4D5E-9D34-8577E2643B36}" type="presParOf" srcId="{D9FA76DB-4B79-4AD2-B298-2B00EA929A3C}" destId="{FA23BDB7-77F3-4F58-ABD6-7CA1C14F567E}" srcOrd="0" destOrd="0" presId="urn:microsoft.com/office/officeart/2005/8/layout/orgChart1"/>
    <dgm:cxn modelId="{ACB7F9E5-37E7-48A4-BCD9-54D1B2EDC90F}" type="presParOf" srcId="{D9FA76DB-4B79-4AD2-B298-2B00EA929A3C}" destId="{C1651E89-2AD2-4A00-899E-D54EB8F98514}" srcOrd="1" destOrd="0" presId="urn:microsoft.com/office/officeart/2005/8/layout/orgChart1"/>
    <dgm:cxn modelId="{EB45B326-ADEC-478D-9B4C-759AB110E9E1}" type="presParOf" srcId="{639AB5E7-A536-4AEF-850F-F4C8F28E8345}" destId="{165CE444-E671-4793-9582-4280F5074B55}" srcOrd="1" destOrd="0" presId="urn:microsoft.com/office/officeart/2005/8/layout/orgChart1"/>
    <dgm:cxn modelId="{46B13A87-71CB-4CEA-BFB3-F0C007D5D92F}" type="presParOf" srcId="{639AB5E7-A536-4AEF-850F-F4C8F28E8345}" destId="{08B5233A-AFB3-4DAB-8279-5B629DEF016B}" srcOrd="2" destOrd="0" presId="urn:microsoft.com/office/officeart/2005/8/layout/orgChart1"/>
    <dgm:cxn modelId="{0CE0768D-7152-46CC-982E-4190911240C2}" type="presParOf" srcId="{8814D763-AEDE-4C77-8BC7-32E6391EE21C}" destId="{7F6E2296-04F5-48CC-8DC2-71B4C750894B}" srcOrd="2" destOrd="0" presId="urn:microsoft.com/office/officeart/2005/8/layout/orgChart1"/>
    <dgm:cxn modelId="{511DD158-D773-414C-B052-26EFF2517D25}" type="presParOf" srcId="{8814D763-AEDE-4C77-8BC7-32E6391EE21C}" destId="{84C45B07-D9EB-486A-A391-6ECFE7146081}" srcOrd="3" destOrd="0" presId="urn:microsoft.com/office/officeart/2005/8/layout/orgChart1"/>
    <dgm:cxn modelId="{35D76729-6756-46E7-BB4A-190D0BBC94E2}" type="presParOf" srcId="{84C45B07-D9EB-486A-A391-6ECFE7146081}" destId="{25186600-A4FA-489F-A606-6FF8E024D7E7}" srcOrd="0" destOrd="0" presId="urn:microsoft.com/office/officeart/2005/8/layout/orgChart1"/>
    <dgm:cxn modelId="{7862DA2F-95D2-4215-A7DF-9B67D5D8AF65}" type="presParOf" srcId="{25186600-A4FA-489F-A606-6FF8E024D7E7}" destId="{A48446E9-E0B9-4F2E-B5E3-E032D16AE34F}" srcOrd="0" destOrd="0" presId="urn:microsoft.com/office/officeart/2005/8/layout/orgChart1"/>
    <dgm:cxn modelId="{FB144E1F-2294-408A-B92B-08655405C626}" type="presParOf" srcId="{25186600-A4FA-489F-A606-6FF8E024D7E7}" destId="{F1032F49-C787-4630-AD8D-584100E64C1F}" srcOrd="1" destOrd="0" presId="urn:microsoft.com/office/officeart/2005/8/layout/orgChart1"/>
    <dgm:cxn modelId="{D6B06D2B-81A3-4FB9-9253-49F8FFEE9B12}" type="presParOf" srcId="{84C45B07-D9EB-486A-A391-6ECFE7146081}" destId="{6F7AB8DB-35E5-4F2A-B529-1BCAC2578672}" srcOrd="1" destOrd="0" presId="urn:microsoft.com/office/officeart/2005/8/layout/orgChart1"/>
    <dgm:cxn modelId="{7C7AA1C3-6EDC-4019-9A22-368134164865}" type="presParOf" srcId="{84C45B07-D9EB-486A-A391-6ECFE7146081}" destId="{306B3AA0-1FD0-4A1F-8967-5D32EB1ACB3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E2296-04F5-48CC-8DC2-71B4C750894B}">
      <dsp:nvSpPr>
        <dsp:cNvPr id="0" name=""/>
        <dsp:cNvSpPr/>
      </dsp:nvSpPr>
      <dsp:spPr>
        <a:xfrm>
          <a:off x="2857500" y="931914"/>
          <a:ext cx="195581" cy="856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6831"/>
              </a:lnTo>
              <a:lnTo>
                <a:pt x="195581" y="85683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847AF3-7538-4915-B6CD-98C1AB8CBC26}">
      <dsp:nvSpPr>
        <dsp:cNvPr id="0" name=""/>
        <dsp:cNvSpPr/>
      </dsp:nvSpPr>
      <dsp:spPr>
        <a:xfrm>
          <a:off x="2661918" y="931914"/>
          <a:ext cx="195581" cy="856831"/>
        </a:xfrm>
        <a:custGeom>
          <a:avLst/>
          <a:gdLst/>
          <a:ahLst/>
          <a:cxnLst/>
          <a:rect l="0" t="0" r="0" b="0"/>
          <a:pathLst>
            <a:path>
              <a:moveTo>
                <a:pt x="195581" y="0"/>
              </a:moveTo>
              <a:lnTo>
                <a:pt x="195581" y="856831"/>
              </a:lnTo>
              <a:lnTo>
                <a:pt x="0" y="85683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B66777-C400-44F0-A517-419450D684CF}">
      <dsp:nvSpPr>
        <dsp:cNvPr id="0" name=""/>
        <dsp:cNvSpPr/>
      </dsp:nvSpPr>
      <dsp:spPr>
        <a:xfrm>
          <a:off x="2811780" y="931914"/>
          <a:ext cx="91440" cy="17136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136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8001E5-A9E0-4B2C-98EF-E6D3B04249BC}">
      <dsp:nvSpPr>
        <dsp:cNvPr id="0" name=""/>
        <dsp:cNvSpPr/>
      </dsp:nvSpPr>
      <dsp:spPr>
        <a:xfrm>
          <a:off x="1926161" y="575"/>
          <a:ext cx="1862677" cy="93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Bike </a:t>
          </a:r>
          <a:endParaRPr lang="en-IN" sz="2400" kern="1200"/>
        </a:p>
      </dsp:txBody>
      <dsp:txXfrm>
        <a:off x="1926161" y="575"/>
        <a:ext cx="1862677" cy="931338"/>
      </dsp:txXfrm>
    </dsp:sp>
    <dsp:sp modelId="{D0BD0BA7-D1DE-4ED6-8BF9-7B8D94F444B2}">
      <dsp:nvSpPr>
        <dsp:cNvPr id="0" name=""/>
        <dsp:cNvSpPr/>
      </dsp:nvSpPr>
      <dsp:spPr>
        <a:xfrm>
          <a:off x="1926161" y="2645576"/>
          <a:ext cx="1862677" cy="93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count 1000</a:t>
          </a:r>
          <a:endParaRPr lang="en-IN" sz="2400" kern="1200" dirty="0"/>
        </a:p>
      </dsp:txBody>
      <dsp:txXfrm>
        <a:off x="1926161" y="2645576"/>
        <a:ext cx="1862677" cy="931338"/>
      </dsp:txXfrm>
    </dsp:sp>
    <dsp:sp modelId="{FA23BDB7-77F3-4F58-ABD6-7CA1C14F567E}">
      <dsp:nvSpPr>
        <dsp:cNvPr id="0" name=""/>
        <dsp:cNvSpPr/>
      </dsp:nvSpPr>
      <dsp:spPr>
        <a:xfrm>
          <a:off x="799241" y="1323076"/>
          <a:ext cx="1862677" cy="93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rental58.304 </a:t>
          </a:r>
          <a:endParaRPr lang="en-IN" sz="2400" kern="1200" dirty="0"/>
        </a:p>
      </dsp:txBody>
      <dsp:txXfrm>
        <a:off x="799241" y="1323076"/>
        <a:ext cx="1862677" cy="931338"/>
      </dsp:txXfrm>
    </dsp:sp>
    <dsp:sp modelId="{A48446E9-E0B9-4F2E-B5E3-E032D16AE34F}">
      <dsp:nvSpPr>
        <dsp:cNvPr id="0" name=""/>
        <dsp:cNvSpPr/>
      </dsp:nvSpPr>
      <dsp:spPr>
        <a:xfrm>
          <a:off x="3053081" y="1323076"/>
          <a:ext cx="1862677" cy="93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Causal 4921</a:t>
          </a:r>
          <a:endParaRPr lang="en-IN" sz="2400" kern="1200" dirty="0"/>
        </a:p>
      </dsp:txBody>
      <dsp:txXfrm>
        <a:off x="3053081" y="1323076"/>
        <a:ext cx="1862677" cy="931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372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293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6936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98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16907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4783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953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7433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58971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939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3462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4770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9022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5228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622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73197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49333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96535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55596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6031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973090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8854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748693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30864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55D3493-9A25-4536-2CBA-05BDC9D65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A28063-1739-7993-1749-B2521539F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4408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98806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52732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463771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87796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09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07975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049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C39DBCE-4524-92B0-2357-BFE0875C1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8442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002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44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43873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7DA2CEDE-2AB4-4FB8-9551-E0AA4222B1A3}" type="datetime1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69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  <p:sldLayoutId id="2147484036" r:id="rId16"/>
    <p:sldLayoutId id="2147484037" r:id="rId17"/>
    <p:sldLayoutId id="2147484038" r:id="rId18"/>
    <p:sldLayoutId id="2147484039" r:id="rId19"/>
    <p:sldLayoutId id="2147484040" r:id="rId20"/>
    <p:sldLayoutId id="2147484041" r:id="rId21"/>
    <p:sldLayoutId id="2147484042" r:id="rId22"/>
    <p:sldLayoutId id="2147484043" r:id="rId23"/>
    <p:sldLayoutId id="2147484044" r:id="rId24"/>
    <p:sldLayoutId id="2147484045" r:id="rId25"/>
    <p:sldLayoutId id="2147484046" r:id="rId26"/>
    <p:sldLayoutId id="2147484047" r:id="rId27"/>
    <p:sldLayoutId id="2147484048" r:id="rId28"/>
    <p:sldLayoutId id="2147484049" r:id="rId29"/>
    <p:sldLayoutId id="2147484050" r:id="rId30"/>
    <p:sldLayoutId id="2147484051" r:id="rId31"/>
    <p:sldLayoutId id="2147484052" r:id="rId32"/>
    <p:sldLayoutId id="2147484053" r:id="rId33"/>
    <p:sldLayoutId id="2147484054" r:id="rId34"/>
    <p:sldLayoutId id="2147484055" r:id="rId35"/>
    <p:sldLayoutId id="2147483680" r:id="rId36"/>
    <p:sldLayoutId id="2147483685" r:id="rId37"/>
    <p:sldLayoutId id="2147483686" r:id="rId38"/>
    <p:sldLayoutId id="2147483687" r:id="rId39"/>
    <p:sldLayoutId id="2147483688" r:id="rId40"/>
    <p:sldLayoutId id="2147483691" r:id="rId4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311727"/>
            <a:ext cx="6392421" cy="6400800"/>
          </a:xfrm>
        </p:spPr>
        <p:txBody>
          <a:bodyPr anchor="ctr"/>
          <a:lstStyle/>
          <a:p>
            <a:r>
              <a:rPr lang="en-US" dirty="0"/>
              <a:t>Bike rental by demand </a:t>
            </a:r>
            <a:br>
              <a:rPr lang="en-US" dirty="0"/>
            </a:br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Tinkal Sonkar</a:t>
            </a:r>
            <a:br>
              <a:rPr lang="en-US" dirty="0"/>
            </a:br>
            <a:r>
              <a:rPr lang="en-US" dirty="0"/>
              <a:t>position :</a:t>
            </a:r>
            <a:br>
              <a:rPr lang="en-US" dirty="0"/>
            </a:br>
            <a:r>
              <a:rPr lang="en-US" dirty="0"/>
              <a:t>data science intern </a:t>
            </a:r>
            <a:br>
              <a:rPr lang="en-US" dirty="0"/>
            </a:br>
            <a:r>
              <a:rPr lang="en-US" dirty="0"/>
              <a:t> organization :</a:t>
            </a:r>
            <a:br>
              <a:rPr lang="en-US" dirty="0"/>
            </a:br>
            <a:r>
              <a:rPr lang="en-US" dirty="0" err="1"/>
              <a:t>Nexthikes</a:t>
            </a:r>
            <a:r>
              <a:rPr lang="en-US" dirty="0"/>
              <a:t> IT solutions</a:t>
            </a:r>
            <a:br>
              <a:rPr lang="en-US" dirty="0"/>
            </a:br>
            <a:r>
              <a:rPr lang="en-US" dirty="0"/>
              <a:t>project </a:t>
            </a:r>
            <a:br>
              <a:rPr lang="en-US" dirty="0"/>
            </a:br>
            <a:r>
              <a:rPr lang="en-US" dirty="0"/>
              <a:t>bike sharing demand analysis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7D2A2-3BC3-F34D-F4F2-F6F4725C3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17" y="311727"/>
            <a:ext cx="2215429" cy="206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6" y="1901537"/>
            <a:ext cx="9121423" cy="49564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. The datasheet contains information about bike rentals, temperature, seasons, months, years and time.</a:t>
            </a:r>
          </a:p>
          <a:p>
            <a:r>
              <a:rPr lang="en-US" dirty="0"/>
              <a:t>. The datasheet was clean and prepared using excel and power query.</a:t>
            </a:r>
          </a:p>
          <a:p>
            <a:r>
              <a:rPr lang="en-US" dirty="0"/>
              <a:t>. Different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analysis</a:t>
            </a:r>
            <a:r>
              <a:rPr lang="en-US" dirty="0"/>
              <a:t> techniques were applied,  including descriptive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statistics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,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correlation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/>
              <a:t>analysis </a:t>
            </a:r>
          </a:p>
          <a:p>
            <a:r>
              <a:rPr lang="en-US" dirty="0"/>
              <a:t>And forecasting. </a:t>
            </a:r>
          </a:p>
          <a:p>
            <a:r>
              <a:rPr lang="en-US" dirty="0"/>
              <a:t>.Pivot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tables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,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pivot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dirty="0"/>
              <a:t>chart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and </a:t>
            </a:r>
            <a:r>
              <a:rPr lang="en-US" dirty="0">
                <a:ln w="0"/>
                <a:solidFill>
                  <a:schemeClr val="tx2">
                    <a:lumMod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dashboard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.The main objective is to identify demand </a:t>
            </a:r>
            <a:r>
              <a:rPr lang="en-US" dirty="0"/>
              <a:t>understand factors affecting bike rentals.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DB2768-6377-A7CD-A38D-A0D485507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592282"/>
            <a:ext cx="9372600" cy="5964381"/>
          </a:xfrm>
          <a:solidFill>
            <a:schemeClr val="accent5">
              <a:lumMod val="75000"/>
            </a:schemeClr>
          </a:solidFill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>
            <a:normAutofit fontScale="85000" lnSpcReduction="10000"/>
          </a:bodyPr>
          <a:lstStyle/>
          <a:p>
            <a:r>
              <a:rPr lang="en-US" dirty="0"/>
              <a:t>.  1</a:t>
            </a:r>
            <a:r>
              <a:rPr lang="en-US" b="1" u="sng" dirty="0"/>
              <a:t>. Data </a:t>
            </a:r>
            <a:r>
              <a:rPr lang="en-US" b="1" u="sng" dirty="0" err="1"/>
              <a:t>intergration</a:t>
            </a:r>
            <a:r>
              <a:rPr lang="en-US" b="1" u="sng" dirty="0"/>
              <a:t> </a:t>
            </a:r>
          </a:p>
          <a:p>
            <a:r>
              <a:rPr lang="en-US" dirty="0"/>
              <a:t>  Combined three different bike rentals datasheet into a single dataset . </a:t>
            </a:r>
          </a:p>
          <a:p>
            <a:r>
              <a:rPr lang="en-IN" b="1" u="sng" dirty="0"/>
              <a:t> 2.Data transformation  </a:t>
            </a:r>
          </a:p>
          <a:p>
            <a:r>
              <a:rPr lang="en-IN" dirty="0"/>
              <a:t>Used power query to organize and transform the data </a:t>
            </a:r>
          </a:p>
          <a:p>
            <a:r>
              <a:rPr lang="en-IN" b="1" u="sng" dirty="0"/>
              <a:t>3.missing values and duplicate removal</a:t>
            </a:r>
            <a:r>
              <a:rPr lang="en-IN" dirty="0"/>
              <a:t> </a:t>
            </a:r>
          </a:p>
          <a:p>
            <a:r>
              <a:rPr lang="en-IN" dirty="0"/>
              <a:t>Checked and handled missing values and blank cells. .</a:t>
            </a:r>
          </a:p>
          <a:p>
            <a:r>
              <a:rPr lang="en-IN" dirty="0"/>
              <a:t> identified data removed duplicate records. </a:t>
            </a:r>
          </a:p>
          <a:p>
            <a:r>
              <a:rPr lang="en-IN" b="1" u="sng" dirty="0"/>
              <a:t>4.Data validation</a:t>
            </a:r>
          </a:p>
          <a:p>
            <a:r>
              <a:rPr lang="en-IN" dirty="0"/>
              <a:t>. Verified data types and corrected incorrect values.</a:t>
            </a:r>
          </a:p>
          <a:p>
            <a:r>
              <a:rPr lang="en-IN" b="1" u="sng" dirty="0"/>
              <a:t>5. Data formatting</a:t>
            </a:r>
          </a:p>
          <a:p>
            <a:r>
              <a:rPr lang="en-IN" dirty="0"/>
              <a:t>. Cleaned and properly formatted the required columns.</a:t>
            </a:r>
          </a:p>
          <a:p>
            <a:r>
              <a:rPr lang="en-IN" dirty="0"/>
              <a:t>           </a:t>
            </a:r>
            <a:r>
              <a:rPr lang="en-IN" b="1" u="sng" dirty="0"/>
              <a:t> Data cleaning process:</a:t>
            </a:r>
          </a:p>
          <a:p>
            <a:r>
              <a:rPr lang="en-IN" dirty="0"/>
              <a:t>       Raw data                    power query                   clean data   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543E82C-B69C-B978-E387-1DE9C3A0311F}"/>
              </a:ext>
            </a:extLst>
          </p:cNvPr>
          <p:cNvSpPr/>
          <p:nvPr/>
        </p:nvSpPr>
        <p:spPr>
          <a:xfrm>
            <a:off x="2759653" y="5943599"/>
            <a:ext cx="923060" cy="394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156532B-5E18-B111-FA7B-D9AB0A4635EB}"/>
              </a:ext>
            </a:extLst>
          </p:cNvPr>
          <p:cNvSpPr/>
          <p:nvPr/>
        </p:nvSpPr>
        <p:spPr>
          <a:xfrm>
            <a:off x="5527965" y="5761760"/>
            <a:ext cx="813957" cy="493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56F50-1E29-02A6-027C-6EE3762D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135509"/>
            <a:ext cx="11045952" cy="10883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Pivot table</a:t>
            </a:r>
            <a:br>
              <a:rPr lang="en-US" dirty="0"/>
            </a:br>
            <a:br>
              <a:rPr lang="en-US" dirty="0"/>
            </a:br>
            <a:r>
              <a:rPr lang="en-US" sz="2700" dirty="0"/>
              <a:t>pivot tables :  summarized rental demand based on temp , </a:t>
            </a:r>
            <a:r>
              <a:rPr lang="en-US" sz="2700" dirty="0" err="1"/>
              <a:t>atemp</a:t>
            </a:r>
            <a:r>
              <a:rPr lang="en-US" sz="2700" dirty="0"/>
              <a:t>, humidity, windspeed </a:t>
            </a:r>
            <a:br>
              <a:rPr lang="en-US" sz="2700" dirty="0"/>
            </a:br>
            <a:r>
              <a:rPr lang="en-US" sz="2700" dirty="0"/>
              <a:t>weather, time, date and user type.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Weather condition analysis</a:t>
            </a:r>
            <a:r>
              <a:rPr lang="en-US" dirty="0"/>
              <a:t>.</a:t>
            </a:r>
            <a:br>
              <a:rPr lang="en-US" dirty="0"/>
            </a:br>
            <a:r>
              <a:rPr lang="en-US" sz="2700" dirty="0"/>
              <a:t>Clear weather accounted for the highest rental share [64.10%], followed by mist +cloudy</a:t>
            </a:r>
            <a:br>
              <a:rPr lang="en-US" sz="2700" dirty="0"/>
            </a:br>
            <a:r>
              <a:rPr lang="en-US" sz="2700" dirty="0"/>
              <a:t> (31.05%), overall , rentals were concentrated in these conditions, with registered users </a:t>
            </a:r>
            <a:br>
              <a:rPr lang="en-US" sz="2700" dirty="0"/>
            </a:br>
            <a:r>
              <a:rPr lang="en-US" sz="2700" dirty="0"/>
              <a:t>contributing more than casual users.</a:t>
            </a:r>
            <a:br>
              <a:rPr lang="en-US" sz="2700" dirty="0"/>
            </a:br>
            <a:br>
              <a:rPr lang="en-US" sz="3600" dirty="0"/>
            </a:br>
            <a:endParaRPr lang="en-IN" sz="3600" dirty="0"/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AEEC66F2-9A2F-0CC1-FA2F-14100EF3681E}"/>
              </a:ext>
            </a:extLst>
          </p:cNvPr>
          <p:cNvSpPr/>
          <p:nvPr/>
        </p:nvSpPr>
        <p:spPr>
          <a:xfrm>
            <a:off x="836467" y="4018664"/>
            <a:ext cx="2270413" cy="342901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Weather 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3E1B1746-1AD0-B5E8-8A2D-D5E8531CFBDA}"/>
              </a:ext>
            </a:extLst>
          </p:cNvPr>
          <p:cNvSpPr/>
          <p:nvPr/>
        </p:nvSpPr>
        <p:spPr>
          <a:xfrm>
            <a:off x="898814" y="4887506"/>
            <a:ext cx="2208067" cy="3429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Heavy rain/snow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Rectangle: Single Corner Rounded 29">
            <a:extLst>
              <a:ext uri="{FF2B5EF4-FFF2-40B4-BE49-F238E27FC236}">
                <a16:creationId xmlns:a16="http://schemas.microsoft.com/office/drawing/2014/main" id="{3B01C4FC-F470-6F4B-2F28-4E35C4799CE5}"/>
              </a:ext>
            </a:extLst>
          </p:cNvPr>
          <p:cNvSpPr/>
          <p:nvPr/>
        </p:nvSpPr>
        <p:spPr>
          <a:xfrm>
            <a:off x="909202" y="5297351"/>
            <a:ext cx="2197679" cy="3429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Light rain/ snow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94BD811D-5379-F900-35BE-4FC04FBA6E07}"/>
              </a:ext>
            </a:extLst>
          </p:cNvPr>
          <p:cNvSpPr/>
          <p:nvPr/>
        </p:nvSpPr>
        <p:spPr>
          <a:xfrm>
            <a:off x="3616035" y="4003088"/>
            <a:ext cx="1818410" cy="342901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Sum of causal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88C44C8C-4CC6-7774-24F7-2E3892BE91EB}"/>
              </a:ext>
            </a:extLst>
          </p:cNvPr>
          <p:cNvSpPr/>
          <p:nvPr/>
        </p:nvSpPr>
        <p:spPr>
          <a:xfrm>
            <a:off x="3602084" y="4462793"/>
            <a:ext cx="1808018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3211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4" name="Rectangle: Single Corner Rounded 33">
            <a:extLst>
              <a:ext uri="{FF2B5EF4-FFF2-40B4-BE49-F238E27FC236}">
                <a16:creationId xmlns:a16="http://schemas.microsoft.com/office/drawing/2014/main" id="{DF11A9A7-196A-472D-E2E9-294CF9F0A237}"/>
              </a:ext>
            </a:extLst>
          </p:cNvPr>
          <p:cNvSpPr/>
          <p:nvPr/>
        </p:nvSpPr>
        <p:spPr>
          <a:xfrm>
            <a:off x="3616035" y="5322734"/>
            <a:ext cx="1843075" cy="3429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171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5" name="Rectangle: Single Corner Rounded 34">
            <a:extLst>
              <a:ext uri="{FF2B5EF4-FFF2-40B4-BE49-F238E27FC236}">
                <a16:creationId xmlns:a16="http://schemas.microsoft.com/office/drawing/2014/main" id="{E0E0AC30-9237-8B6C-CA44-42691FD0ECFF}"/>
              </a:ext>
            </a:extLst>
          </p:cNvPr>
          <p:cNvSpPr/>
          <p:nvPr/>
        </p:nvSpPr>
        <p:spPr>
          <a:xfrm>
            <a:off x="5672138" y="4052938"/>
            <a:ext cx="1783775" cy="38706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Sum register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6" name="Rectangle: Single Corner Rounded 35">
            <a:extLst>
              <a:ext uri="{FF2B5EF4-FFF2-40B4-BE49-F238E27FC236}">
                <a16:creationId xmlns:a16="http://schemas.microsoft.com/office/drawing/2014/main" id="{A4900D48-87B8-5A0F-1049-2FD67D014779}"/>
              </a:ext>
            </a:extLst>
          </p:cNvPr>
          <p:cNvSpPr/>
          <p:nvPr/>
        </p:nvSpPr>
        <p:spPr>
          <a:xfrm>
            <a:off x="5691190" y="4529020"/>
            <a:ext cx="1745673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34162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7" name="Rectangle: Single Corner Rounded 36">
            <a:extLst>
              <a:ext uri="{FF2B5EF4-FFF2-40B4-BE49-F238E27FC236}">
                <a16:creationId xmlns:a16="http://schemas.microsoft.com/office/drawing/2014/main" id="{7551E3F9-2D14-7A7C-5ABD-C3D144E74CC3}"/>
              </a:ext>
            </a:extLst>
          </p:cNvPr>
          <p:cNvSpPr/>
          <p:nvPr/>
        </p:nvSpPr>
        <p:spPr>
          <a:xfrm>
            <a:off x="5708977" y="4947946"/>
            <a:ext cx="1745673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35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Rectangle: Single Corner Rounded 37">
            <a:extLst>
              <a:ext uri="{FF2B5EF4-FFF2-40B4-BE49-F238E27FC236}">
                <a16:creationId xmlns:a16="http://schemas.microsoft.com/office/drawing/2014/main" id="{00F13EEA-DF10-7F15-AA68-6A02286A39FA}"/>
              </a:ext>
            </a:extLst>
          </p:cNvPr>
          <p:cNvSpPr/>
          <p:nvPr/>
        </p:nvSpPr>
        <p:spPr>
          <a:xfrm>
            <a:off x="5750615" y="5403832"/>
            <a:ext cx="1745673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2618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Rectangle: Single Corner Rounded 38">
            <a:extLst>
              <a:ext uri="{FF2B5EF4-FFF2-40B4-BE49-F238E27FC236}">
                <a16:creationId xmlns:a16="http://schemas.microsoft.com/office/drawing/2014/main" id="{3DE723F9-A9F2-EC9E-3308-0B04105CA220}"/>
              </a:ext>
            </a:extLst>
          </p:cNvPr>
          <p:cNvSpPr/>
          <p:nvPr/>
        </p:nvSpPr>
        <p:spPr>
          <a:xfrm>
            <a:off x="7702513" y="4060217"/>
            <a:ext cx="1897213" cy="298741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Rental demand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0" name="Rectangle: Single Corner Rounded 39">
            <a:extLst>
              <a:ext uri="{FF2B5EF4-FFF2-40B4-BE49-F238E27FC236}">
                <a16:creationId xmlns:a16="http://schemas.microsoft.com/office/drawing/2014/main" id="{5532CC1E-2D6F-F9E9-532E-761D36A760F2}"/>
              </a:ext>
            </a:extLst>
          </p:cNvPr>
          <p:cNvSpPr/>
          <p:nvPr/>
        </p:nvSpPr>
        <p:spPr>
          <a:xfrm>
            <a:off x="7670681" y="4462876"/>
            <a:ext cx="1897213" cy="337707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64.10%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" name="Rectangle: Single Corner Rounded 40">
            <a:extLst>
              <a:ext uri="{FF2B5EF4-FFF2-40B4-BE49-F238E27FC236}">
                <a16:creationId xmlns:a16="http://schemas.microsoft.com/office/drawing/2014/main" id="{A9963D2F-5E9B-31F8-B067-B45FAE49AC09}"/>
              </a:ext>
            </a:extLst>
          </p:cNvPr>
          <p:cNvSpPr/>
          <p:nvPr/>
        </p:nvSpPr>
        <p:spPr>
          <a:xfrm>
            <a:off x="7690812" y="4853868"/>
            <a:ext cx="1897213" cy="362361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0.06%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2" name="Rectangle: Single Corner Rounded 41">
            <a:extLst>
              <a:ext uri="{FF2B5EF4-FFF2-40B4-BE49-F238E27FC236}">
                <a16:creationId xmlns:a16="http://schemas.microsoft.com/office/drawing/2014/main" id="{22B18A06-9CA0-8991-2373-B6881F454353}"/>
              </a:ext>
            </a:extLst>
          </p:cNvPr>
          <p:cNvSpPr/>
          <p:nvPr/>
        </p:nvSpPr>
        <p:spPr>
          <a:xfrm>
            <a:off x="7690811" y="5314941"/>
            <a:ext cx="1897214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4.78%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3" name="Rectangle: Single Corner Rounded 42">
            <a:extLst>
              <a:ext uri="{FF2B5EF4-FFF2-40B4-BE49-F238E27FC236}">
                <a16:creationId xmlns:a16="http://schemas.microsoft.com/office/drawing/2014/main" id="{4998DA34-4E1D-38BD-8F5F-37D60B38E24D}"/>
              </a:ext>
            </a:extLst>
          </p:cNvPr>
          <p:cNvSpPr/>
          <p:nvPr/>
        </p:nvSpPr>
        <p:spPr>
          <a:xfrm>
            <a:off x="897515" y="4456387"/>
            <a:ext cx="2209366" cy="34419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clear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4" name="Rectangle: Single Corner Rounded 43">
            <a:extLst>
              <a:ext uri="{FF2B5EF4-FFF2-40B4-BE49-F238E27FC236}">
                <a16:creationId xmlns:a16="http://schemas.microsoft.com/office/drawing/2014/main" id="{B956F4E3-F90D-5763-0671-6FEFD9220FA7}"/>
              </a:ext>
            </a:extLst>
          </p:cNvPr>
          <p:cNvSpPr/>
          <p:nvPr/>
        </p:nvSpPr>
        <p:spPr>
          <a:xfrm>
            <a:off x="936479" y="6190387"/>
            <a:ext cx="2170402" cy="3429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Grand total 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5" name="Rectangle: Single Corner Rounded 44">
            <a:extLst>
              <a:ext uri="{FF2B5EF4-FFF2-40B4-BE49-F238E27FC236}">
                <a16:creationId xmlns:a16="http://schemas.microsoft.com/office/drawing/2014/main" id="{251E0231-4BD3-C599-3EE7-DC23B99BEB1C}"/>
              </a:ext>
            </a:extLst>
          </p:cNvPr>
          <p:cNvSpPr/>
          <p:nvPr/>
        </p:nvSpPr>
        <p:spPr>
          <a:xfrm>
            <a:off x="3579667" y="6190387"/>
            <a:ext cx="1879444" cy="366272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4921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6" name="Rectangle: Single Corner Rounded 45">
            <a:extLst>
              <a:ext uri="{FF2B5EF4-FFF2-40B4-BE49-F238E27FC236}">
                <a16:creationId xmlns:a16="http://schemas.microsoft.com/office/drawing/2014/main" id="{0E1B824A-52BC-9382-C20D-B10BC58B8349}"/>
              </a:ext>
            </a:extLst>
          </p:cNvPr>
          <p:cNvSpPr/>
          <p:nvPr/>
        </p:nvSpPr>
        <p:spPr>
          <a:xfrm>
            <a:off x="5743611" y="6255374"/>
            <a:ext cx="1711039" cy="337707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53383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7" name="Rectangle: Single Corner Rounded 46">
            <a:extLst>
              <a:ext uri="{FF2B5EF4-FFF2-40B4-BE49-F238E27FC236}">
                <a16:creationId xmlns:a16="http://schemas.microsoft.com/office/drawing/2014/main" id="{1E2866F4-DBE7-7890-270C-A86FA556AFCF}"/>
              </a:ext>
            </a:extLst>
          </p:cNvPr>
          <p:cNvSpPr/>
          <p:nvPr/>
        </p:nvSpPr>
        <p:spPr>
          <a:xfrm>
            <a:off x="7690812" y="6234595"/>
            <a:ext cx="1845249" cy="358485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100.00%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8" name="Rectangle: Single Corner Rounded 47">
            <a:extLst>
              <a:ext uri="{FF2B5EF4-FFF2-40B4-BE49-F238E27FC236}">
                <a16:creationId xmlns:a16="http://schemas.microsoft.com/office/drawing/2014/main" id="{B190E983-45DB-987F-B952-8758CA2948DB}"/>
              </a:ext>
            </a:extLst>
          </p:cNvPr>
          <p:cNvSpPr/>
          <p:nvPr/>
        </p:nvSpPr>
        <p:spPr>
          <a:xfrm>
            <a:off x="909202" y="5730569"/>
            <a:ext cx="2208067" cy="3429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Mist +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cloudly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9" name="Rectangle: Single Corner Rounded 48">
            <a:extLst>
              <a:ext uri="{FF2B5EF4-FFF2-40B4-BE49-F238E27FC236}">
                <a16:creationId xmlns:a16="http://schemas.microsoft.com/office/drawing/2014/main" id="{2F726E7A-F67E-FB85-4DD3-D221C3C8F592}"/>
              </a:ext>
            </a:extLst>
          </p:cNvPr>
          <p:cNvSpPr/>
          <p:nvPr/>
        </p:nvSpPr>
        <p:spPr>
          <a:xfrm>
            <a:off x="3616036" y="5727977"/>
            <a:ext cx="1843075" cy="366272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1538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0" name="Rectangle: Single Corner Rounded 49">
            <a:extLst>
              <a:ext uri="{FF2B5EF4-FFF2-40B4-BE49-F238E27FC236}">
                <a16:creationId xmlns:a16="http://schemas.microsoft.com/office/drawing/2014/main" id="{E4000E2F-5269-B98E-416C-EB6117CACEAB}"/>
              </a:ext>
            </a:extLst>
          </p:cNvPr>
          <p:cNvSpPr/>
          <p:nvPr/>
        </p:nvSpPr>
        <p:spPr>
          <a:xfrm>
            <a:off x="5743611" y="5824115"/>
            <a:ext cx="1745673" cy="366272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16568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1" name="Rectangle: Single Corner Rounded 50">
            <a:extLst>
              <a:ext uri="{FF2B5EF4-FFF2-40B4-BE49-F238E27FC236}">
                <a16:creationId xmlns:a16="http://schemas.microsoft.com/office/drawing/2014/main" id="{B65ADAC3-2C46-788F-C74F-13DBAE8CBF88}"/>
              </a:ext>
            </a:extLst>
          </p:cNvPr>
          <p:cNvSpPr/>
          <p:nvPr/>
        </p:nvSpPr>
        <p:spPr>
          <a:xfrm>
            <a:off x="7702513" y="5770875"/>
            <a:ext cx="1833548" cy="366272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31.05%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2" name="Rectangle: Single Corner Rounded 51">
            <a:extLst>
              <a:ext uri="{FF2B5EF4-FFF2-40B4-BE49-F238E27FC236}">
                <a16:creationId xmlns:a16="http://schemas.microsoft.com/office/drawing/2014/main" id="{DD315585-6ACF-3E8E-755C-B7B81D3C50D5}"/>
              </a:ext>
            </a:extLst>
          </p:cNvPr>
          <p:cNvSpPr/>
          <p:nvPr/>
        </p:nvSpPr>
        <p:spPr>
          <a:xfrm>
            <a:off x="3626665" y="4887506"/>
            <a:ext cx="1758857" cy="358486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14489"/>
            <a:ext cx="3549121" cy="1388533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Key insights from rental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/>
              <a:t> Analyzed rental data to identify important patterns and trends </a:t>
            </a:r>
          </a:p>
          <a:p>
            <a:r>
              <a:rPr lang="en-US" dirty="0"/>
              <a:t> Compared rentals counts across different weather conditions and seasons.</a:t>
            </a:r>
          </a:p>
          <a:p>
            <a:r>
              <a:rPr lang="en-US" dirty="0"/>
              <a:t>  Studied the relationship between temperature and bike rentals. </a:t>
            </a:r>
          </a:p>
          <a:p>
            <a:r>
              <a:rPr lang="en-US" dirty="0"/>
              <a:t>Used pivot tables and charts to summarize rental activity. </a:t>
            </a:r>
          </a:p>
          <a:p>
            <a:r>
              <a:rPr lang="en-US" dirty="0"/>
              <a:t> These insights can help in better planning of bike. availability and demand.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A7AEE7-127A-B14B-2007-A593D1D58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1" y="1776845"/>
            <a:ext cx="3549121" cy="302375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4361F7D-E501-C47B-373E-5ED53CFC32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131416"/>
              </p:ext>
            </p:extLst>
          </p:nvPr>
        </p:nvGraphicFramePr>
        <p:xfrm>
          <a:off x="1014257" y="1776845"/>
          <a:ext cx="3421626" cy="357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1112-D84F-C4F3-8CD0-CBBA2D62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784" y="3601844"/>
            <a:ext cx="10518905" cy="3145792"/>
          </a:xfrm>
        </p:spPr>
        <p:txBody>
          <a:bodyPr>
            <a:norm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.</a:t>
            </a:r>
            <a:r>
              <a:rPr lang="en-US" sz="36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Identify peak hour with the highest bike rental demand .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>. Analyze customer rental patterns during morning and evening hours.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>. Improve bike availability according to customer demand</a:t>
            </a:r>
            <a:br>
              <a:rPr lang="en-US" sz="2400" dirty="0">
                <a:solidFill>
                  <a:schemeClr val="accent1"/>
                </a:solidFill>
              </a:rPr>
            </a:br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47CB2C-DA70-1DBB-9B9E-9A192111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16F8F16-252A-7153-FBB4-5BB1BA0B73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078115"/>
              </p:ext>
            </p:extLst>
          </p:nvPr>
        </p:nvGraphicFramePr>
        <p:xfrm>
          <a:off x="2565413" y="475489"/>
          <a:ext cx="8292353" cy="3231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985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14" y="383823"/>
            <a:ext cx="5053814" cy="1704621"/>
          </a:xfrm>
        </p:spPr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83" y="2024010"/>
            <a:ext cx="7148946" cy="4148189"/>
          </a:xfr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r>
              <a:rPr lang="en-US" dirty="0"/>
              <a:t>.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performed statistical analysis to understand the bike rental data.</a:t>
            </a:r>
          </a:p>
          <a:p>
            <a:endParaRPr lang="en-US" dirty="0"/>
          </a:p>
          <a:p>
            <a:r>
              <a:rPr lang="en-US" dirty="0"/>
              <a:t>. 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Calculated mean, mode, average, count, minimum and maximum values.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Conducted </a:t>
            </a:r>
            <a:r>
              <a:rPr lang="en-US" sz="3400" dirty="0">
                <a:solidFill>
                  <a:schemeClr val="tx2">
                    <a:lumMod val="10000"/>
                  </a:schemeClr>
                </a:solidFill>
              </a:rPr>
              <a:t>correlation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analysis to identify relationships between variables.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performed anomaly detection to identify unusual rentals values.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used forecasting to analyze future rental trends.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Analyzed rental patterns to understand overall demands.</a:t>
            </a: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                         statistical analysis                     correlation                 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anomaly detection                 forecasting</a:t>
            </a:r>
          </a:p>
          <a:p>
            <a:r>
              <a:rPr lang="en-US" dirty="0"/>
              <a:t>             </a:t>
            </a:r>
          </a:p>
          <a:p>
            <a:r>
              <a:rPr lang="en-US" dirty="0"/>
              <a:t>                                                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00A15-3E8A-FADE-6FB2-5A92916CEC77}"/>
              </a:ext>
            </a:extLst>
          </p:cNvPr>
          <p:cNvSpPr txBox="1"/>
          <p:nvPr/>
        </p:nvSpPr>
        <p:spPr>
          <a:xfrm>
            <a:off x="1834896" y="63154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F73B1AD-A64A-8212-87CE-043428346826}"/>
              </a:ext>
            </a:extLst>
          </p:cNvPr>
          <p:cNvSpPr/>
          <p:nvPr/>
        </p:nvSpPr>
        <p:spPr>
          <a:xfrm>
            <a:off x="4265454" y="5166997"/>
            <a:ext cx="766234" cy="236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17047BB-4318-FDF4-D846-36A2B5CB8727}"/>
              </a:ext>
            </a:extLst>
          </p:cNvPr>
          <p:cNvSpPr/>
          <p:nvPr/>
        </p:nvSpPr>
        <p:spPr>
          <a:xfrm>
            <a:off x="6481237" y="5222789"/>
            <a:ext cx="774508" cy="236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474EB20-1ABC-357D-E040-F845E8E2A3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5066695"/>
              </p:ext>
            </p:extLst>
          </p:nvPr>
        </p:nvGraphicFramePr>
        <p:xfrm>
          <a:off x="7585365" y="1589809"/>
          <a:ext cx="4813107" cy="4582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F8186EEC-C779-8FB8-DF59-84CAE8AEA6D9}"/>
              </a:ext>
            </a:extLst>
          </p:cNvPr>
          <p:cNvSpPr/>
          <p:nvPr/>
        </p:nvSpPr>
        <p:spPr>
          <a:xfrm>
            <a:off x="2722859" y="5403273"/>
            <a:ext cx="726420" cy="236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35468"/>
            <a:ext cx="7965461" cy="970844"/>
          </a:xfrm>
        </p:spPr>
        <p:txBody>
          <a:bodyPr/>
          <a:lstStyle/>
          <a:p>
            <a:r>
              <a:rPr lang="en-US" dirty="0"/>
              <a:t>Exploring rental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133" y="1636888"/>
            <a:ext cx="6637867" cy="5221112"/>
          </a:xfr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3657600" lvl="8" indent="0">
              <a:buNone/>
            </a:pPr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Calculated key statistical measures such as mean, average, mode, minimum and maximum</a:t>
            </a: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Performed correlation analysis to identify relationships between different variables .</a:t>
            </a: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Used forecasting to understand future  rental trends.</a:t>
            </a: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Created pivot tables and pivot charts for better data summarization.</a:t>
            </a: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Identified important trends and patterns to support business insights.</a:t>
            </a:r>
          </a:p>
          <a:p>
            <a:r>
              <a:rPr lang="en-US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Analyzed bike rental data to understand rentals patterns.</a:t>
            </a:r>
          </a:p>
          <a:p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  <a:p>
            <a:pPr marL="0" indent="0">
              <a:buNone/>
            </a:pPr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EF3113-0B11-9AF3-A342-A70932228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009468"/>
              </p:ext>
            </p:extLst>
          </p:nvPr>
        </p:nvGraphicFramePr>
        <p:xfrm>
          <a:off x="0" y="1382888"/>
          <a:ext cx="5226755" cy="5221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 insights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3066592" cy="4396220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/>
              <a:t>. </a:t>
            </a:r>
            <a:r>
              <a:rPr lang="en-US" sz="2400" dirty="0">
                <a:solidFill>
                  <a:srgbClr val="FF0000"/>
                </a:solidFill>
              </a:rPr>
              <a:t>rental trends can help understand customer demand.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.  Weather and seasonal conditions affect rental activity.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. The analysis can support better bike availability and demand planning</a:t>
            </a:r>
            <a:r>
              <a:rPr lang="en-US" sz="2400" dirty="0"/>
              <a:t>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99705581"/>
              </p:ext>
            </p:extLst>
          </p:nvPr>
        </p:nvGraphicFramePr>
        <p:xfrm>
          <a:off x="4890510" y="2332038"/>
          <a:ext cx="6653788" cy="422462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{3B4B98B0-60AC-42C2-AFA5-B58CD77FA1E5}</a:tableStyleId>
              </a:tblPr>
              <a:tblGrid>
                <a:gridCol w="2335721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335721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91173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91173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5436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Measurement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Actual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9101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Total rentals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Numbers of rentals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58.304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9470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Registered users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Numbers of users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4921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5436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Casual users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Numbers of users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4921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5436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Average rentals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Average count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58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7582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forecast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Expected rentals 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18.875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Bike rental project performance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8359706"/>
              </p:ext>
            </p:extLst>
          </p:nvPr>
        </p:nvGraphicFramePr>
        <p:xfrm>
          <a:off x="914398" y="2316163"/>
          <a:ext cx="11045538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28763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28763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235133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235133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Project area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Data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cleaned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Statistical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mean, median, mode, </a:t>
                      </a:r>
                    </a:p>
                    <a:p>
                      <a:r>
                        <a:rPr lang="en-US" dirty="0"/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metrics</a:t>
                      </a:r>
                    </a:p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Relationships identified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 Demand  Forecasting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Rental demand forecast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Dashboard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 charts and KPIs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3AD55E-11E7-EE39-6F88-904DFC8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300969-1461-12B8-E394-F4C7D4E56E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9808" y="-85436"/>
            <a:ext cx="9289474" cy="694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45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D691136-7A57-185E-B822-3A3B16F224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8975342"/>
              </p:ext>
            </p:extLst>
          </p:nvPr>
        </p:nvGraphicFramePr>
        <p:xfrm>
          <a:off x="914401" y="0"/>
          <a:ext cx="5715000" cy="3577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Tinkal Sonkar</a:t>
            </a:r>
          </a:p>
          <a:p>
            <a:r>
              <a:rPr lang="en-US" dirty="0"/>
              <a:t>Sonkartinkal21@gmail.com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1DB4A-D934-F6C8-2C76-64C1B26148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2427" y="3160889"/>
            <a:ext cx="4631706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71af3243-3dd4-4a8d-8c0d-dd76da1f02a5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230e9df3-be65-4c73-a93b-d1236ebd677e"/>
    <ds:schemaRef ds:uri="16c05727-aa75-4e4a-9b5f-8a80a1165891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594</TotalTime>
  <Words>703</Words>
  <Application>Microsoft Office PowerPoint</Application>
  <PresentationFormat>Widescreen</PresentationFormat>
  <Paragraphs>138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Neue Haas Grotesk Text Pro</vt:lpstr>
      <vt:lpstr>Axis</vt:lpstr>
      <vt:lpstr>Bike rental by demand  presented by: Tinkal Sonkar position : data science intern   organization : Nexthikes IT solutions project  bike sharing demand analysis </vt:lpstr>
      <vt:lpstr>introduction</vt:lpstr>
      <vt:lpstr>data preparation           </vt:lpstr>
      <vt:lpstr>Pivot table  pivot tables :  summarized rental demand based on temp , atemp, humidity, windspeed  weather, time, date and user type.  Weather condition analysis. Clear weather accounted for the highest rental share [64.10%], followed by mist +cloudy  (31.05%), overall , rentals were concentrated in these conditions, with registered users  contributing more than casual users.  </vt:lpstr>
      <vt:lpstr>Key insights from rental data</vt:lpstr>
      <vt:lpstr>. Identify peak hour with the highest bike rental demand . . Analyze customer rental patterns during morning and evening hours. . Improve bike availability according to customer demand </vt:lpstr>
      <vt:lpstr>Data analysis</vt:lpstr>
      <vt:lpstr>Exploring rental insights</vt:lpstr>
      <vt:lpstr> insights </vt:lpstr>
      <vt:lpstr>Bike rental project performance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sonkartinkal21@outlook.com</dc:creator>
  <cp:lastModifiedBy>sonkartinkal21@outlook.com</cp:lastModifiedBy>
  <cp:revision>2</cp:revision>
  <dcterms:created xsi:type="dcterms:W3CDTF">2026-10-02T16:46:56Z</dcterms:created>
  <dcterms:modified xsi:type="dcterms:W3CDTF">2026-10-10T17:59:40Z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